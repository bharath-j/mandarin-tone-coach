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C77A4-8137-C54C-8773-4DB14305E73B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AFFA3-7554-8C40-8A09-D2CFAEA68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8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AjX0iom5IpcqNDDa06NudestrFC2O1pA/view?usp=sharing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C60134-697F-E50A-3A17-08E58582D3C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5BF470C-9098-8238-81A4-EF7CEE32D072}"/>
              </a:ext>
            </a:extLst>
          </p:cNvPr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Tone Coach</a:t>
            </a:r>
            <a:endParaRPr lang="en-US" sz="4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CAA2DD1-2CDD-94A8-B052-54F6D4B7812B}"/>
              </a:ext>
            </a:extLst>
          </p:cNvPr>
          <p:cNvSpPr/>
          <p:nvPr/>
        </p:nvSpPr>
        <p:spPr>
          <a:xfrm>
            <a:off x="457200" y="21259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Pitch Feedback for L2 Mandarin Tone Learning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1789D60-B687-285E-2502-92AC3C814700}"/>
              </a:ext>
            </a:extLst>
          </p:cNvPr>
          <p:cNvSpPr/>
          <p:nvPr/>
        </p:nvSpPr>
        <p:spPr>
          <a:xfrm>
            <a:off x="457200" y="3323844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EAB782B-8473-3B6D-5D40-14D4A1CCF4FD}"/>
              </a:ext>
            </a:extLst>
          </p:cNvPr>
          <p:cNvSpPr/>
          <p:nvPr/>
        </p:nvSpPr>
        <p:spPr>
          <a:xfrm>
            <a:off x="457200" y="351815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Jagadish (bjagadish3@gatech.edu)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CS6460 Educational Technology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1C3CCF-1B22-CF19-AF3B-C158C319BE9D}"/>
              </a:ext>
            </a:extLst>
          </p:cNvPr>
          <p:cNvSpPr/>
          <p:nvPr/>
        </p:nvSpPr>
        <p:spPr>
          <a:xfrm>
            <a:off x="457200" y="275463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Milestone 2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365814-1AA1-9C22-0F58-B2B8076C8C0E}"/>
              </a:ext>
            </a:extLst>
          </p:cNvPr>
          <p:cNvSpPr/>
          <p:nvPr/>
        </p:nvSpPr>
        <p:spPr>
          <a:xfrm>
            <a:off x="2377440" y="275463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Video Link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6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Milestone 1 Recap  —  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828553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828553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932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40181"/>
            <a:ext cx="374976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dirty="0" err="1">
                <a:solidFill>
                  <a:srgbClr val="065A82"/>
                </a:solidFill>
              </a:rPr>
              <a:t>Streamlit</a:t>
            </a:r>
            <a:r>
              <a:rPr sz="1200" b="1" i="0" dirty="0">
                <a:solidFill>
                  <a:srgbClr val="065A82"/>
                </a:solidFill>
              </a:rPr>
              <a:t> web app — real-time Mandarin tone practice</a:t>
            </a:r>
          </a:p>
          <a:p>
            <a:pPr algn="l"/>
            <a:endParaRPr sz="1200" b="1" i="0" dirty="0">
              <a:solidFill>
                <a:srgbClr val="065A82"/>
              </a:solidFill>
            </a:endParaRPr>
          </a:p>
          <a:p>
            <a:pPr algn="l"/>
            <a:r>
              <a:rPr sz="1000" b="1" i="0" dirty="0"/>
              <a:t>Pipeline: Record → Extract F0 → Classify → Visualize → Feedback</a:t>
            </a:r>
          </a:p>
          <a:p>
            <a:pPr algn="l"/>
            <a:endParaRPr sz="1000" b="0" i="0" dirty="0">
              <a:solidFill>
                <a:srgbClr val="5A7A8A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SVM Classifier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91.95% speaker-independent accuracy (Tone Perfect corpus, 9,838 MP3s)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27 acoustic features: F0 contour, first-order deltas, f0_min_pos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Main T2↔T3 confusion (16%); rule-based override applied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Practice Modes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Monosyllabic: 40 words (10 per tone T1–T4)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Disyllabic: 20 two-syllable words with tone sandhi support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Pitch contour overlay: learner (red) vs canonical reference (blue)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Plain-language corrective feedback for all tone-pair combinations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55DACF-F2E6-6A07-FBDF-028E3636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474" y="1280160"/>
            <a:ext cx="4869791" cy="3053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Study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206240" cy="3909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20624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023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Study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840480" cy="32232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1" dirty="0">
                <a:solidFill>
                  <a:srgbClr val="065A82"/>
                </a:solidFill>
              </a:rPr>
              <a:t>P</a:t>
            </a:r>
            <a:r>
              <a:rPr sz="1200" b="1" i="0" dirty="0">
                <a:solidFill>
                  <a:srgbClr val="065A82"/>
                </a:solidFill>
              </a:rPr>
              <a:t>erception test </a:t>
            </a:r>
            <a:r>
              <a:rPr lang="en-US" sz="1200" b="1" i="0" dirty="0">
                <a:solidFill>
                  <a:srgbClr val="065A82"/>
                </a:solidFill>
              </a:rPr>
              <a:t>&amp;</a:t>
            </a:r>
            <a:r>
              <a:rPr sz="1200" b="1" i="0" dirty="0">
                <a:solidFill>
                  <a:srgbClr val="065A82"/>
                </a:solidFill>
              </a:rPr>
              <a:t> </a:t>
            </a:r>
            <a:r>
              <a:rPr lang="en-US" sz="1200" b="1" i="0" dirty="0">
                <a:solidFill>
                  <a:srgbClr val="065A82"/>
                </a:solidFill>
              </a:rPr>
              <a:t>Tech. Acceptance Model</a:t>
            </a:r>
            <a:r>
              <a:rPr sz="1200" b="1" i="0" dirty="0">
                <a:solidFill>
                  <a:srgbClr val="065A82"/>
                </a:solidFill>
              </a:rPr>
              <a:t> </a:t>
            </a:r>
            <a:r>
              <a:rPr lang="en-US" sz="1200" b="1" i="0" dirty="0">
                <a:solidFill>
                  <a:srgbClr val="065A82"/>
                </a:solidFill>
              </a:rPr>
              <a:t>(TAM) </a:t>
            </a:r>
            <a:r>
              <a:rPr sz="1200" b="1" i="0" dirty="0">
                <a:solidFill>
                  <a:srgbClr val="065A82"/>
                </a:solidFill>
              </a:rPr>
              <a:t>survey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Online, asynchronous, self-paced (~15 min)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No prior Mandarin experience required</a:t>
            </a:r>
          </a:p>
          <a:p>
            <a:pPr algn="l"/>
            <a:endParaRPr sz="11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2C39A"/>
                </a:solidFill>
              </a:rPr>
              <a:t>1</a:t>
            </a:r>
            <a:r>
              <a:rPr lang="en-US" sz="1200" b="1" i="0" dirty="0">
                <a:solidFill>
                  <a:srgbClr val="02C39A"/>
                </a:solidFill>
              </a:rPr>
              <a:t>.</a:t>
            </a:r>
            <a:r>
              <a:rPr sz="1200" b="1" i="0" dirty="0">
                <a:solidFill>
                  <a:srgbClr val="02C39A"/>
                </a:solidFill>
              </a:rPr>
              <a:t>  Pre-test (Form A)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12 audio clips · select the tone heard · no feedback given</a:t>
            </a:r>
          </a:p>
          <a:p>
            <a:pPr algn="l"/>
            <a:endParaRPr sz="1000" b="0" i="0" dirty="0">
              <a:solidFill>
                <a:srgbClr val="5A7A8A"/>
              </a:solidFill>
            </a:endParaRPr>
          </a:p>
          <a:p>
            <a:pPr algn="l"/>
            <a:r>
              <a:rPr sz="1200" b="1" i="0" dirty="0">
                <a:solidFill>
                  <a:srgbClr val="2196F3"/>
                </a:solidFill>
              </a:rPr>
              <a:t>2</a:t>
            </a:r>
            <a:r>
              <a:rPr lang="en-US" sz="1200" b="1" i="0" dirty="0">
                <a:solidFill>
                  <a:srgbClr val="2196F3"/>
                </a:solidFill>
              </a:rPr>
              <a:t>.</a:t>
            </a:r>
            <a:r>
              <a:rPr sz="1200" b="1" i="0" dirty="0">
                <a:solidFill>
                  <a:srgbClr val="2196F3"/>
                </a:solidFill>
              </a:rPr>
              <a:t>  Practice with the App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Mandarin Tone Coach: monosyllabic &amp; disyllabic words</a:t>
            </a:r>
          </a:p>
          <a:p>
            <a:pPr algn="l"/>
            <a:r>
              <a:rPr sz="1000" b="0" i="0" dirty="0">
                <a:solidFill>
                  <a:srgbClr val="5A7A8A"/>
                </a:solidFill>
              </a:rPr>
              <a:t>Real-time pitch contour + plain-language corrective feedback</a:t>
            </a:r>
          </a:p>
          <a:p>
            <a:pPr algn="l"/>
            <a:endParaRPr sz="1000" b="0" i="0" dirty="0">
              <a:solidFill>
                <a:srgbClr val="5A7A8A"/>
              </a:solidFill>
            </a:endParaRPr>
          </a:p>
          <a:p>
            <a:pPr algn="l"/>
            <a:r>
              <a:rPr sz="1200" b="1" i="0" dirty="0">
                <a:solidFill>
                  <a:srgbClr val="4CAF50"/>
                </a:solidFill>
              </a:rPr>
              <a:t>3</a:t>
            </a:r>
            <a:r>
              <a:rPr lang="en-US" sz="1200" b="1" i="0" dirty="0">
                <a:solidFill>
                  <a:srgbClr val="4CAF50"/>
                </a:solidFill>
              </a:rPr>
              <a:t>.</a:t>
            </a:r>
            <a:r>
              <a:rPr sz="1200" b="1" i="0" dirty="0">
                <a:solidFill>
                  <a:srgbClr val="4CAF50"/>
                </a:solidFill>
              </a:rPr>
              <a:t>  Post-test (Form B)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12 new clips · different speakers </a:t>
            </a:r>
            <a:endParaRPr lang="en-US" sz="1000" b="0" i="0" dirty="0">
              <a:solidFill>
                <a:srgbClr val="1A2B3C"/>
              </a:solidFill>
            </a:endParaRPr>
          </a:p>
          <a:p>
            <a:pPr algn="l"/>
            <a:endParaRPr sz="1000" b="0" i="0" dirty="0">
              <a:solidFill>
                <a:srgbClr val="5A7A8A"/>
              </a:solidFill>
            </a:endParaRPr>
          </a:p>
          <a:p>
            <a:pPr algn="l"/>
            <a:r>
              <a:rPr sz="1200" b="1" i="0" dirty="0">
                <a:solidFill>
                  <a:srgbClr val="FF9800"/>
                </a:solidFill>
              </a:rPr>
              <a:t>4</a:t>
            </a:r>
            <a:r>
              <a:rPr lang="en-US" sz="1200" b="1" i="0" dirty="0">
                <a:solidFill>
                  <a:srgbClr val="FF9800"/>
                </a:solidFill>
              </a:rPr>
              <a:t>.</a:t>
            </a:r>
            <a:r>
              <a:rPr sz="1200" b="1" i="0" dirty="0">
                <a:solidFill>
                  <a:srgbClr val="FF9800"/>
                </a:solidFill>
              </a:rPr>
              <a:t>  TAM Usability Survey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8 Likert items (1–5) + 1 open-ended feedback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960120"/>
            <a:ext cx="4206240" cy="3909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960120"/>
            <a:ext cx="42062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4023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Instruments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840480" cy="34518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dirty="0">
                <a:solidFill>
                  <a:srgbClr val="065A82"/>
                </a:solidFill>
              </a:rPr>
              <a:t>Perception Test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12 items per form (3 per tone T1–T4)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Items randomi</a:t>
            </a:r>
            <a:r>
              <a:rPr lang="en-US" sz="1100" b="0" i="0" dirty="0">
                <a:solidFill>
                  <a:srgbClr val="1A2B3C"/>
                </a:solidFill>
              </a:rPr>
              <a:t>z</a:t>
            </a:r>
            <a:r>
              <a:rPr sz="1100" b="0" i="0" dirty="0">
                <a:solidFill>
                  <a:srgbClr val="1A2B3C"/>
                </a:solidFill>
              </a:rPr>
              <a:t>ed per participant (seeded by participant ID)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Scored: proportion correct (0–12 per participant)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Responses stored in Google Sheets via </a:t>
            </a:r>
            <a:r>
              <a:rPr sz="1100" b="0" i="0" dirty="0" err="1">
                <a:solidFill>
                  <a:srgbClr val="1A2B3C"/>
                </a:solidFill>
              </a:rPr>
              <a:t>gspread</a:t>
            </a:r>
            <a:endParaRPr sz="1100" b="0" i="0" dirty="0">
              <a:solidFill>
                <a:srgbClr val="1A2B3C"/>
              </a:solidFill>
            </a:endParaRPr>
          </a:p>
          <a:p>
            <a:pPr algn="l"/>
            <a:endParaRPr sz="11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Speaker Design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Form A — Female Voice 1 &amp; Male Voice 1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Form B — Female Voice 2 &amp; Male Voice 2  (new, unseen speakers)</a:t>
            </a:r>
          </a:p>
          <a:p>
            <a:pPr algn="l"/>
            <a:endParaRPr sz="11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TAM Survey  (Technology Acceptance Model)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8 Likert items, 5-point scale (1 = strongly disagree → 5 = strongly agree)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Constructs: perceived usefulness, ease of use, reuse intent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1 open-ended question for qualitative feedback</a:t>
            </a:r>
          </a:p>
          <a:p>
            <a:pPr algn="l"/>
            <a:endParaRPr sz="11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Participant IDs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Auto-generated 8-char hex ID shown at end of Form A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Participants enter their ID to link Form A → Form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Participant Demographics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19"/>
            <a:ext cx="2743200" cy="4000499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55636"/>
            <a:ext cx="274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 dirty="0">
                <a:solidFill>
                  <a:srgbClr val="02C39A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07679"/>
            <a:ext cx="27432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 dirty="0">
                <a:solidFill>
                  <a:srgbClr val="CADCFC"/>
                </a:solidFill>
              </a:rPr>
              <a:t>Paired participants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58035"/>
            <a:ext cx="237744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221090"/>
            <a:ext cx="27432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 dirty="0">
                <a:solidFill>
                  <a:srgbClr val="02C39A"/>
                </a:solidFill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77490"/>
            <a:ext cx="237744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 dirty="0">
                <a:solidFill>
                  <a:srgbClr val="CADCFC"/>
                </a:solidFill>
              </a:rPr>
              <a:t>TAM respondents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960120"/>
            <a:ext cx="274320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Prior Mandarin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Never studied before:  11 / 16  (69%)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More than 2 years:      3 / 16  (19%)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Less than 6 months:    2 / 16  (13%)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000" b="0" i="1">
                <a:solidFill>
                  <a:srgbClr val="5A7A8A"/>
                </a:solidFill>
              </a:rPr>
              <a:t>69% of respondents had no prior Mandarin exposure — confirming the target population of complete novices.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960120"/>
            <a:ext cx="274320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Native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English (all variants)  7 / 16  (44%)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Mandarin / Chinese      3 / 16  (19%)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Kannada / Tulu          2 / 16  (13%)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Hindi                   1 / 16  (6%)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Farsi                   1 / 16  (6%)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Malayalam               1 / 16  (6%)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Swahili                 1 / 16  (6%)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000" b="0" i="1">
                <a:solidFill>
                  <a:srgbClr val="5A7A8A"/>
                </a:solidFill>
              </a:rPr>
              <a:t>Native/heritage Mandarin speakers (n=3) flagged — different performance profile from novices.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Pre/Post Perception 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400000" cy="4000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i="0">
                <a:solidFill>
                  <a:srgbClr val="02C39A"/>
                </a:solidFill>
              </a:rPr>
              <a:t>+10.3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14440"/>
            <a:ext cx="22171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Mean accuracy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94440"/>
            <a:ext cx="2217120" cy="2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CADCFC"/>
                </a:solidFill>
              </a:rPr>
              <a:t>53.8%  →  64.1%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34440"/>
            <a:ext cx="203424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514440"/>
            <a:ext cx="2217120" cy="2263300"/>
          </a:xfrm>
          <a:prstGeom prst="rect">
            <a:avLst/>
          </a:prstGeom>
          <a:solidFill>
            <a:srgbClr val="0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547320"/>
            <a:ext cx="203424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dirty="0">
                <a:solidFill>
                  <a:srgbClr val="02C39A"/>
                </a:solidFill>
              </a:rPr>
              <a:t>Statistical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5880"/>
            <a:ext cx="2034240" cy="17604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 dirty="0">
                <a:solidFill>
                  <a:srgbClr val="CADCFC"/>
                </a:solidFill>
              </a:rPr>
              <a:t>Wilcoxon signed-rank test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  <a:highlight>
                  <a:srgbClr val="FFFF00"/>
                </a:highlight>
              </a:rPr>
              <a:t>W = 13.5,  p = 0.087 (two-sided)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CADCFC"/>
                </a:solidFill>
              </a:rPr>
              <a:t>Paired t-test (reference)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  <a:highlight>
                  <a:srgbClr val="FFFF00"/>
                </a:highlight>
              </a:rPr>
              <a:t>t = −2.17,  p = 0.051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CADCFC"/>
                </a:solidFill>
              </a:rPr>
              <a:t>n = 13 paired participants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  <a:highlight>
                  <a:srgbClr val="FFFF00"/>
                </a:highlight>
              </a:rPr>
              <a:t>3 items per tone per participant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CADCFC"/>
                </a:solidFill>
              </a:rPr>
              <a:t>Interpretation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  <a:highlight>
                  <a:srgbClr val="FFFF00"/>
                </a:highlight>
              </a:rPr>
              <a:t>Strong positive trend; p just above 0.05 threshold — marginal with n=13 (est. power ~35%)</a:t>
            </a:r>
          </a:p>
        </p:txBody>
      </p:sp>
      <p:pic>
        <p:nvPicPr>
          <p:cNvPr id="12" name="Picture 11" descr="prepo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0" y="960120"/>
            <a:ext cx="601248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Per-Tone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080260" cy="343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08026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8973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T1 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714500" cy="27518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 dirty="0">
                <a:solidFill>
                  <a:srgbClr val="5A7A8A"/>
                </a:solidFill>
              </a:rPr>
              <a:t>Pre-test</a:t>
            </a:r>
          </a:p>
          <a:p>
            <a:pPr algn="l">
              <a:spcBef>
                <a:spcPts val="200"/>
              </a:spcBef>
            </a:pPr>
            <a:r>
              <a:rPr sz="1400" b="1" i="0" dirty="0">
                <a:solidFill>
                  <a:srgbClr val="2196F3"/>
                </a:solidFill>
              </a:rPr>
              <a:t>53.8%</a:t>
            </a:r>
          </a:p>
          <a:p>
            <a:pPr algn="l"/>
            <a:endParaRPr sz="1400" b="1" i="0" dirty="0">
              <a:solidFill>
                <a:srgbClr val="2196F3"/>
              </a:solidFill>
            </a:endParaRPr>
          </a:p>
          <a:p>
            <a:pPr algn="l"/>
            <a:r>
              <a:rPr sz="1000" b="1" i="0" dirty="0">
                <a:solidFill>
                  <a:srgbClr val="1A2B3C"/>
                </a:solidFill>
              </a:rPr>
              <a:t>Post-test</a:t>
            </a:r>
          </a:p>
          <a:p>
            <a:pPr algn="l">
              <a:spcBef>
                <a:spcPts val="200"/>
              </a:spcBef>
            </a:pPr>
            <a:r>
              <a:rPr sz="1400" b="1" i="0" dirty="0">
                <a:solidFill>
                  <a:srgbClr val="2196F3"/>
                </a:solidFill>
              </a:rPr>
              <a:t>69.2%</a:t>
            </a:r>
          </a:p>
          <a:p>
            <a:pPr algn="l"/>
            <a:endParaRPr sz="1400" b="1" i="0" dirty="0">
              <a:solidFill>
                <a:srgbClr val="2196F3"/>
              </a:solidFill>
            </a:endParaRPr>
          </a:p>
          <a:p>
            <a:pPr algn="l"/>
            <a:endParaRPr sz="1400" b="1" i="0" dirty="0">
              <a:solidFill>
                <a:srgbClr val="2196F3"/>
              </a:solidFill>
            </a:endParaRPr>
          </a:p>
          <a:p>
            <a:pPr algn="ctr"/>
            <a:r>
              <a:rPr sz="1600" b="1" i="0" dirty="0">
                <a:solidFill>
                  <a:srgbClr val="2196F3"/>
                </a:solidFill>
              </a:rPr>
              <a:t>+15.4 pp ↑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960120"/>
            <a:ext cx="2080260" cy="343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46020" y="960120"/>
            <a:ext cx="208026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37460" y="1051560"/>
            <a:ext cx="18973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T2 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1463040"/>
            <a:ext cx="1714500" cy="27518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A8A"/>
                </a:solidFill>
              </a:rPr>
              <a:t>Pre-test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4CAF50"/>
                </a:solidFill>
              </a:rPr>
              <a:t>53.8%</a:t>
            </a:r>
          </a:p>
          <a:p>
            <a:pPr algn="l"/>
            <a:endParaRPr sz="1400" b="1" i="0">
              <a:solidFill>
                <a:srgbClr val="4CAF50"/>
              </a:solidFill>
            </a:endParaRPr>
          </a:p>
          <a:p>
            <a:pPr algn="l"/>
            <a:r>
              <a:rPr sz="1000" b="1" i="0">
                <a:solidFill>
                  <a:srgbClr val="1A2B3C"/>
                </a:solidFill>
              </a:rPr>
              <a:t>Post-test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4CAF50"/>
                </a:solidFill>
              </a:rPr>
              <a:t>66.7%</a:t>
            </a:r>
          </a:p>
          <a:p>
            <a:pPr algn="l"/>
            <a:endParaRPr sz="1400" b="1" i="0">
              <a:solidFill>
                <a:srgbClr val="4CAF50"/>
              </a:solidFill>
            </a:endParaRPr>
          </a:p>
          <a:p>
            <a:pPr algn="l"/>
            <a:endParaRPr sz="1400" b="1" i="0">
              <a:solidFill>
                <a:srgbClr val="4CAF50"/>
              </a:solidFill>
            </a:endParaRPr>
          </a:p>
          <a:p>
            <a:pPr algn="ctr"/>
            <a:r>
              <a:rPr sz="1600" b="1" i="0">
                <a:solidFill>
                  <a:srgbClr val="4CAF50"/>
                </a:solidFill>
              </a:rPr>
              <a:t>+12.8 pp 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960120"/>
            <a:ext cx="2080260" cy="343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960120"/>
            <a:ext cx="208026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051560"/>
            <a:ext cx="18973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T3  dipping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63040"/>
            <a:ext cx="1714500" cy="27518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A8A"/>
                </a:solidFill>
              </a:rPr>
              <a:t>Pre-test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F9800"/>
                </a:solidFill>
              </a:rPr>
              <a:t>46.2%</a:t>
            </a:r>
          </a:p>
          <a:p>
            <a:pPr algn="l"/>
            <a:endParaRPr sz="1400" b="1" i="0">
              <a:solidFill>
                <a:srgbClr val="FF9800"/>
              </a:solidFill>
            </a:endParaRPr>
          </a:p>
          <a:p>
            <a:pPr algn="l"/>
            <a:r>
              <a:rPr sz="1000" b="1" i="0">
                <a:solidFill>
                  <a:srgbClr val="1A2B3C"/>
                </a:solidFill>
              </a:rPr>
              <a:t>Post-test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F9800"/>
                </a:solidFill>
              </a:rPr>
              <a:t>66.7%</a:t>
            </a:r>
          </a:p>
          <a:p>
            <a:pPr algn="l"/>
            <a:endParaRPr sz="1400" b="1" i="0">
              <a:solidFill>
                <a:srgbClr val="FF9800"/>
              </a:solidFill>
            </a:endParaRPr>
          </a:p>
          <a:p>
            <a:pPr algn="l"/>
            <a:endParaRPr sz="1400" b="1" i="0">
              <a:solidFill>
                <a:srgbClr val="FF9800"/>
              </a:solidFill>
            </a:endParaRPr>
          </a:p>
          <a:p>
            <a:pPr algn="ctr"/>
            <a:r>
              <a:rPr sz="1600" b="1" i="0">
                <a:solidFill>
                  <a:srgbClr val="FF9800"/>
                </a:solidFill>
              </a:rPr>
              <a:t>+20.5 pp 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9420" y="960120"/>
            <a:ext cx="2080260" cy="343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89420" y="960120"/>
            <a:ext cx="2080260" cy="3200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80860" y="1051560"/>
            <a:ext cx="18973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T4  falling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1463040"/>
            <a:ext cx="1714500" cy="27518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A8A"/>
                </a:solidFill>
              </a:rPr>
              <a:t>Pre-test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44336"/>
                </a:solidFill>
              </a:rPr>
              <a:t>61.5%</a:t>
            </a:r>
          </a:p>
          <a:p>
            <a:pPr algn="l"/>
            <a:endParaRPr sz="1400" b="1" i="0">
              <a:solidFill>
                <a:srgbClr val="F44336"/>
              </a:solidFill>
            </a:endParaRPr>
          </a:p>
          <a:p>
            <a:pPr algn="l"/>
            <a:r>
              <a:rPr sz="1000" b="1" i="0">
                <a:solidFill>
                  <a:srgbClr val="1A2B3C"/>
                </a:solidFill>
              </a:rPr>
              <a:t>Post-test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44336"/>
                </a:solidFill>
              </a:rPr>
              <a:t>53.8%</a:t>
            </a:r>
          </a:p>
          <a:p>
            <a:pPr algn="l"/>
            <a:endParaRPr sz="1400" b="1" i="0">
              <a:solidFill>
                <a:srgbClr val="F44336"/>
              </a:solidFill>
            </a:endParaRPr>
          </a:p>
          <a:p>
            <a:pPr algn="l"/>
            <a:endParaRPr sz="1400" b="1" i="0">
              <a:solidFill>
                <a:srgbClr val="F44336"/>
              </a:solidFill>
            </a:endParaRPr>
          </a:p>
          <a:p>
            <a:pPr algn="ctr"/>
            <a:r>
              <a:rPr sz="1600" b="1" i="0">
                <a:solidFill>
                  <a:srgbClr val="F44336"/>
                </a:solidFill>
              </a:rPr>
              <a:t>−7.7 pp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89180"/>
            <a:ext cx="8595360" cy="38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27780"/>
            <a:ext cx="8229600" cy="14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 dirty="0">
                <a:solidFill>
                  <a:srgbClr val="1A2B3C"/>
                </a:solidFill>
              </a:rPr>
              <a:t>Key observations:  T3 (dipping) showed the largest gain (+20.5 pp) — likely benefiting from the pitch contour visuali</a:t>
            </a:r>
            <a:r>
              <a:rPr lang="en-US" sz="1000" b="0" i="0" dirty="0">
                <a:solidFill>
                  <a:srgbClr val="1A2B3C"/>
                </a:solidFill>
              </a:rPr>
              <a:t>z</a:t>
            </a:r>
            <a:r>
              <a:rPr sz="1000" b="0" i="0" dirty="0">
                <a:solidFill>
                  <a:srgbClr val="1A2B3C"/>
                </a:solidFill>
              </a:rPr>
              <a:t>ation.  T4 declined (−7.7 pp) — possibly harder Form B stimuli or high variance with only 3 items per tone.  Caution: n=13, 3 items/tone = limited statistical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App Feedback</a:t>
            </a:r>
          </a:p>
        </p:txBody>
      </p:sp>
      <p:pic>
        <p:nvPicPr>
          <p:cNvPr id="4" name="Picture 3" descr="surve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157216" cy="39090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14416" y="960120"/>
            <a:ext cx="3255264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14416" y="1143000"/>
            <a:ext cx="3255264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02C39A"/>
                </a:solidFill>
              </a:rPr>
              <a:t>3.96 / 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5856" y="1643000"/>
            <a:ext cx="3072384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Overall mean (8 items)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4416" y="2011680"/>
            <a:ext cx="3255264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14416" y="2011680"/>
            <a:ext cx="471440" cy="44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84165" y="2111490"/>
            <a:ext cx="531942" cy="257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4.19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5856" y="2103120"/>
            <a:ext cx="2692384" cy="257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 dirty="0">
                <a:solidFill>
                  <a:srgbClr val="1A2B3C"/>
                </a:solidFill>
              </a:rPr>
              <a:t>Would recommend to others  (highest)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14416" y="2511680"/>
            <a:ext cx="3255264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14416" y="2511680"/>
            <a:ext cx="471440" cy="440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4165" y="2611490"/>
            <a:ext cx="531942" cy="257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4.12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5856" y="2603120"/>
            <a:ext cx="2692384" cy="257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Overall app useful for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4416" y="3011680"/>
            <a:ext cx="3255264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14416" y="3011680"/>
            <a:ext cx="471440" cy="44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84165" y="3111490"/>
            <a:ext cx="531942" cy="257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4.06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5856" y="3103120"/>
            <a:ext cx="2692384" cy="257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Would use app again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14416" y="3511680"/>
            <a:ext cx="3255264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14416" y="3511680"/>
            <a:ext cx="471440" cy="44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84165" y="3603120"/>
            <a:ext cx="531942" cy="257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5856" y="3603120"/>
            <a:ext cx="2692384" cy="257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Recording &amp; feedback straightforward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14416" y="4011680"/>
            <a:ext cx="3255264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14416" y="4011680"/>
            <a:ext cx="471440" cy="440000"/>
          </a:xfrm>
          <a:prstGeom prst="rect">
            <a:avLst/>
          </a:prstGeom>
          <a:solidFill>
            <a:srgbClr val="5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84165" y="4103120"/>
            <a:ext cx="531942" cy="257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3.69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5856" y="4103120"/>
            <a:ext cx="2692384" cy="257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Helped understand tones  (lowest)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903500"/>
            <a:ext cx="859536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A8A"/>
                </a:solidFill>
              </a:rPr>
              <a:t>⚠ Respondent 13 (native Mandarin speaker who couldn’t navigate the app) gave all 1s — excluding this outlier raises the overall mean to 4.09.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Key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743200" cy="3617620"/>
          </a:xfrm>
          <a:prstGeom prst="rect">
            <a:avLst/>
          </a:prstGeom>
          <a:solidFill>
            <a:srgbClr val="0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74320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Worked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29318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Positive </a:t>
            </a:r>
            <a:r>
              <a:rPr sz="1000" b="0" i="0" dirty="0" err="1">
                <a:solidFill>
                  <a:srgbClr val="CADCFC"/>
                </a:solidFill>
              </a:rPr>
              <a:t>pre→post</a:t>
            </a:r>
            <a:r>
              <a:rPr sz="1000" b="0" i="0" dirty="0">
                <a:solidFill>
                  <a:srgbClr val="CADCFC"/>
                </a:solidFill>
              </a:rPr>
              <a:t> trend (+10.3 pp) across all non-native participants</a:t>
            </a:r>
          </a:p>
          <a:p>
            <a:pPr algn="l">
              <a:spcBef>
                <a:spcPts val="600"/>
              </a:spcBef>
            </a:pPr>
            <a:r>
              <a:rPr sz="1000" b="0" i="0" dirty="0">
                <a:solidFill>
                  <a:srgbClr val="CADCFC"/>
                </a:solidFill>
              </a:rPr>
              <a:t>•  T3 (dipping) largest gain (+20.5 pp) — pitch contour most helpful</a:t>
            </a:r>
          </a:p>
          <a:p>
            <a:pPr algn="l">
              <a:spcBef>
                <a:spcPts val="600"/>
              </a:spcBef>
            </a:pPr>
            <a:r>
              <a:rPr sz="1000" b="0" i="0" dirty="0">
                <a:solidFill>
                  <a:srgbClr val="CADCFC"/>
                </a:solidFill>
              </a:rPr>
              <a:t>•  TAM overall usefulness &amp; reuse intent both 4.12 / 5</a:t>
            </a:r>
          </a:p>
          <a:p>
            <a:pPr algn="l">
              <a:spcBef>
                <a:spcPts val="600"/>
              </a:spcBef>
            </a:pPr>
            <a:r>
              <a:rPr sz="1000" b="0" i="0" dirty="0">
                <a:solidFill>
                  <a:srgbClr val="CADCFC"/>
                </a:solidFill>
              </a:rPr>
              <a:t>•  Pitch contour overlay praised in open-ended feedback</a:t>
            </a:r>
          </a:p>
          <a:p>
            <a:pPr algn="l">
              <a:spcBef>
                <a:spcPts val="600"/>
              </a:spcBef>
            </a:pPr>
            <a:r>
              <a:rPr sz="1000" b="0" i="0" dirty="0">
                <a:solidFill>
                  <a:srgbClr val="CADCFC"/>
                </a:solidFill>
              </a:rPr>
              <a:t>•  Disyllabic mode broadened practice scope successfully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60120"/>
            <a:ext cx="2743200" cy="3617620"/>
          </a:xfrm>
          <a:prstGeom prst="rect">
            <a:avLst/>
          </a:prstGeom>
          <a:solidFill>
            <a:srgbClr val="0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74320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Participant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377440" cy="29318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T2 vs T3 perceptually hard to distinguish — confirmed by test data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No target audio before recording — users wanted to hear word first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“Too noisy / too quiet” error not specific enough to act on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More words requested; 40-word list feels limited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App navigation confusing for one participant on first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2743200" cy="3617620"/>
          </a:xfrm>
          <a:prstGeom prst="rect">
            <a:avLst/>
          </a:prstGeom>
          <a:solidFill>
            <a:srgbClr val="0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960120"/>
            <a:ext cx="2743200" cy="3200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377440" cy="29318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n = 13 paired — underpowered pilot (est. power ~35%)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Asynchronous: no control over practice time or noise environment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T4 decline (−7.7 pp) likely Form B difficulty, not regression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3 native speakers in sample — different performance profile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ADCFC"/>
                </a:solidFill>
              </a:rPr>
              <a:t>•  SVM misclassifies some correct native-speaker productions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60620"/>
            <a:ext cx="8595360" cy="291440"/>
          </a:xfrm>
          <a:prstGeom prst="rect">
            <a:avLst/>
          </a:prstGeom>
          <a:solidFill>
            <a:srgbClr val="0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40133"/>
            <a:ext cx="8046720" cy="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 dirty="0">
                <a:solidFill>
                  <a:srgbClr val="02C39A"/>
                </a:solidFill>
              </a:rPr>
              <a:t>“The app is well planned and designed in a way that makes it very easy for the user to learn Mandarin.”  — Participant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What’s Next  —  Weeks 14–16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743200" cy="362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560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14 · Deep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377440" cy="29072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Per-participant learning curve analysis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Subgroup: novices vs prior Mandarin learners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Perception test confusion matrix (which tones mixed up)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Correlate TAM scores with learning gains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60120"/>
            <a:ext cx="2743200" cy="362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743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560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Weeks 14–15 · Paper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90472"/>
            <a:ext cx="2377440" cy="29072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Introduction &amp; literature review (CAPT, Noticing Hypothesis, TAM)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Methods: system design + study protocol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Results: quantitative pre/post + qualitative survey themes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Discussion: implications, limitations, future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2743200" cy="362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960120"/>
            <a:ext cx="2743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5603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16 · Final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90472"/>
            <a:ext cx="2377440" cy="29072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Complete paper (course format)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Final video walkthrough of the system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Open-source release on GitHub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A2B3C"/>
                </a:solidFill>
              </a:rPr>
              <a:t>✓  Optional: add target-word audio examples to the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1124</Words>
  <Application>Microsoft Macintosh PowerPoint</Application>
  <PresentationFormat>On-screen Show (16:9)</PresentationFormat>
  <Paragraphs>185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Jagadish</cp:lastModifiedBy>
  <cp:revision>7</cp:revision>
  <dcterms:created xsi:type="dcterms:W3CDTF">2013-01-27T09:14:16Z</dcterms:created>
  <dcterms:modified xsi:type="dcterms:W3CDTF">2026-04-11T17:04:03Z</dcterms:modified>
  <cp:category/>
</cp:coreProperties>
</file>