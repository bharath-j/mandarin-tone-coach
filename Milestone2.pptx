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60" d="100"/>
          <a:sy n="160" d="100"/>
        </p:scale>
        <p:origin x="78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2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00000"/>
            <a:ext cx="8412480" cy="90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Mandarin Tone Coach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50000"/>
            <a:ext cx="7500000" cy="4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 i="0">
                <a:solidFill>
                  <a:srgbClr val="02C39A"/>
                </a:solidFill>
              </a:rPr>
              <a:t>Adaptive Pitch Feedback for L2 Mandarin Tone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00000"/>
            <a:ext cx="36576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2800000"/>
            <a:ext cx="8412480" cy="7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CADCFC"/>
                </a:solidFill>
              </a:rPr>
              <a:t>Bharath Jagadish (bjagadish3@gatech.edu)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CADCFC"/>
                </a:solidFill>
              </a:rPr>
              <a:t>CS6460 Educational Technology  ·  Georgia Tech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66260"/>
            <a:ext cx="173736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366260"/>
            <a:ext cx="17373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065A82"/>
                </a:solidFill>
              </a:rPr>
              <a:t>Milestone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Milestone 1 Recap  —  What We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4115520" cy="400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960120"/>
            <a:ext cx="411552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26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The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749760" cy="33147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65A82"/>
                </a:solidFill>
              </a:rPr>
              <a:t>Streamlit web app — real-time Mandarin tone practice</a:t>
            </a:r>
          </a:p>
          <a:p>
            <a:pPr algn="l"/>
            <a:endParaRPr sz="1200" b="1" i="0">
              <a:solidFill>
                <a:srgbClr val="065A82"/>
              </a:solidFill>
            </a:endParaRPr>
          </a:p>
          <a:p>
            <a:pPr algn="l"/>
            <a:r>
              <a:rPr sz="1000" b="0" i="0">
                <a:solidFill>
                  <a:srgbClr val="5A7A8A"/>
                </a:solidFill>
              </a:rPr>
              <a:t>Pipeline: Record → Extract F0 → Classify → Visualize → Feedback</a:t>
            </a:r>
          </a:p>
          <a:p>
            <a:pPr algn="l"/>
            <a:endParaRPr sz="1000" b="0" i="0">
              <a:solidFill>
                <a:srgbClr val="5A7A8A"/>
              </a:solidFill>
            </a:endParaRPr>
          </a:p>
          <a:p>
            <a:pPr algn="l"/>
            <a:r>
              <a:rPr sz="1100" b="1" i="0">
                <a:solidFill>
                  <a:srgbClr val="065A82"/>
                </a:solidFill>
              </a:rPr>
              <a:t>SVM Classifier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• 91.95% speaker-independent accuracy (Tone Perfect corpus, 9,838 MP3s)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• 27 acoustic features: F0 contour, first-order deltas, f0_min_pos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• Main T2↔T3 confusion (16%); rule-based override applied</a:t>
            </a:r>
          </a:p>
          <a:p>
            <a:pPr algn="l"/>
            <a:endParaRPr sz="1000" b="0" i="0">
              <a:solidFill>
                <a:srgbClr val="1A2B3C"/>
              </a:solidFill>
            </a:endParaRPr>
          </a:p>
          <a:p>
            <a:pPr algn="l"/>
            <a:r>
              <a:rPr sz="1100" b="1" i="0">
                <a:solidFill>
                  <a:srgbClr val="065A82"/>
                </a:solidFill>
              </a:rPr>
              <a:t>Practice Modes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• Monosyllabic: 40 words (10 per tone T1–T4)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• Disyllabic: 20 two-syllable words with tone sandhi support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• Pitch contour overlay: learner (red) vs canonical reference (blue)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• Plain-language corrective feedback for all tone-pair combinations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720" y="960120"/>
            <a:ext cx="4115520" cy="400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720" y="960120"/>
            <a:ext cx="4115520" cy="3200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4160" y="1051560"/>
            <a:ext cx="393264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Improvements Since Milestone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5600" y="1463040"/>
            <a:ext cx="3749760" cy="33147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02C39A"/>
                </a:solidFill>
              </a:rPr>
              <a:t>Disyllabic Practice Mode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Energy-minimum syllable boundary detection; neutral-tone handling; 20-word list</a:t>
            </a:r>
          </a:p>
          <a:p>
            <a:pPr algn="l"/>
            <a:endParaRPr sz="1000" b="0" i="0">
              <a:solidFill>
                <a:srgbClr val="1A2B3C"/>
              </a:solidFill>
            </a:endParaRPr>
          </a:p>
          <a:p>
            <a:pPr algn="l"/>
            <a:r>
              <a:rPr sz="1100" b="1" i="0">
                <a:solidFill>
                  <a:srgbClr val="2196F3"/>
                </a:solidFill>
              </a:rPr>
              <a:t>Evaluation Instruments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Pre/post perception test (Forms A &amp; B, different speakers, Google Sheets logging)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TAM usability survey — 8 Likert items + open-ended feedback</a:t>
            </a:r>
          </a:p>
          <a:p>
            <a:pPr algn="l"/>
            <a:endParaRPr sz="1000" b="0" i="0">
              <a:solidFill>
                <a:srgbClr val="1A2B3C"/>
              </a:solidFill>
            </a:endParaRPr>
          </a:p>
          <a:p>
            <a:pPr algn="l"/>
            <a:r>
              <a:rPr sz="1100" b="1" i="0">
                <a:solidFill>
                  <a:srgbClr val="4CAF50"/>
                </a:solidFill>
              </a:rPr>
              <a:t>Usability Fixes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Tone descriptions in sidebar; stale-result bug fixed; Streamlit header hidden; dividers repositioned</a:t>
            </a:r>
          </a:p>
          <a:p>
            <a:pPr algn="l"/>
            <a:endParaRPr sz="1000" b="0" i="0">
              <a:solidFill>
                <a:srgbClr val="1A2B3C"/>
              </a:solidFill>
            </a:endParaRPr>
          </a:p>
          <a:p>
            <a:pPr algn="l"/>
            <a:r>
              <a:rPr sz="1100" b="1" i="0">
                <a:solidFill>
                  <a:srgbClr val="FF9800"/>
                </a:solidFill>
              </a:rPr>
              <a:t>Data Fixes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shàngkē tone corrected (T4+T4); neutral-tone syllable window widened to 25–85%</a:t>
            </a:r>
          </a:p>
          <a:p>
            <a:pPr algn="l"/>
            <a:endParaRPr sz="1000" b="0" i="0">
              <a:solidFill>
                <a:srgbClr val="1A2B3C"/>
              </a:solidFill>
            </a:endParaRPr>
          </a:p>
          <a:p>
            <a:pPr algn="l"/>
            <a:r>
              <a:rPr sz="1100" b="1" i="0">
                <a:solidFill>
                  <a:srgbClr val="065A82"/>
                </a:solidFill>
              </a:rPr>
              <a:t>UI Polish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Disyllabic tone badges use flex layout; footer text removed; toolbar minimised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Study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4206240" cy="3909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960120"/>
            <a:ext cx="420624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40233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Study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3840480" cy="32232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65A82"/>
                </a:solidFill>
              </a:rPr>
              <a:t>19 perception test · 16 TAM survey · CS6460 classmates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Online, asynchronous, self-paced (~10–15 min)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No prior Mandarin experience required</a:t>
            </a:r>
          </a:p>
          <a:p>
            <a:pPr algn="l"/>
            <a:endParaRPr sz="1100" b="0" i="0">
              <a:solidFill>
                <a:srgbClr val="1A2B3C"/>
              </a:solidFill>
            </a:endParaRPr>
          </a:p>
          <a:p>
            <a:pPr algn="l"/>
            <a:r>
              <a:rPr sz="1200" b="1" i="0">
                <a:solidFill>
                  <a:srgbClr val="02C39A"/>
                </a:solidFill>
              </a:rPr>
              <a:t>1  Pre-test (Form A)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12 audio clips · select the tone heard · no feedback given</a:t>
            </a:r>
          </a:p>
          <a:p>
            <a:pPr algn="l"/>
            <a:r>
              <a:rPr sz="1000" b="0" i="0">
                <a:solidFill>
                  <a:srgbClr val="5A7A8A"/>
                </a:solidFill>
              </a:rPr>
              <a:t>Speakers: Female Voice 1 + Male Voice 1</a:t>
            </a:r>
          </a:p>
          <a:p>
            <a:pPr algn="l"/>
            <a:endParaRPr sz="1000" b="0" i="0">
              <a:solidFill>
                <a:srgbClr val="5A7A8A"/>
              </a:solidFill>
            </a:endParaRPr>
          </a:p>
          <a:p>
            <a:pPr algn="l"/>
            <a:r>
              <a:rPr sz="1200" b="1" i="0">
                <a:solidFill>
                  <a:srgbClr val="2196F3"/>
                </a:solidFill>
              </a:rPr>
              <a:t>2  Practice with the App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Mandarin Tone Coach: monosyllabic &amp; disyllabic words</a:t>
            </a:r>
          </a:p>
          <a:p>
            <a:pPr algn="l"/>
            <a:r>
              <a:rPr sz="1000" b="0" i="0">
                <a:solidFill>
                  <a:srgbClr val="5A7A8A"/>
                </a:solidFill>
              </a:rPr>
              <a:t>Real-time pitch contour + plain-language corrective feedback</a:t>
            </a:r>
          </a:p>
          <a:p>
            <a:pPr algn="l"/>
            <a:endParaRPr sz="1000" b="0" i="0">
              <a:solidFill>
                <a:srgbClr val="5A7A8A"/>
              </a:solidFill>
            </a:endParaRPr>
          </a:p>
          <a:p>
            <a:pPr algn="l"/>
            <a:r>
              <a:rPr sz="1200" b="1" i="0">
                <a:solidFill>
                  <a:srgbClr val="4CAF50"/>
                </a:solidFill>
              </a:rPr>
              <a:t>3  Post-test (Form B)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12 new clips · different speakers (Female Voice 2 + Male Voice 2)</a:t>
            </a:r>
          </a:p>
          <a:p>
            <a:pPr algn="l"/>
            <a:r>
              <a:rPr sz="1000" b="0" i="0">
                <a:solidFill>
                  <a:srgbClr val="5A7A8A"/>
                </a:solidFill>
              </a:rPr>
              <a:t>Same format, counterbalanced to minimise item-overlap confound</a:t>
            </a:r>
          </a:p>
          <a:p>
            <a:pPr algn="l"/>
            <a:endParaRPr sz="1000" b="0" i="0">
              <a:solidFill>
                <a:srgbClr val="5A7A8A"/>
              </a:solidFill>
            </a:endParaRPr>
          </a:p>
          <a:p>
            <a:pPr algn="l"/>
            <a:r>
              <a:rPr sz="1200" b="1" i="0">
                <a:solidFill>
                  <a:srgbClr val="FF9800"/>
                </a:solidFill>
              </a:rPr>
              <a:t>4  TAM Usability Survey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8 Likert items (1–5) + 1 open-ended feedback question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960120"/>
            <a:ext cx="4206240" cy="3909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663440" y="960120"/>
            <a:ext cx="4206240" cy="3200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051560"/>
            <a:ext cx="402336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463040"/>
            <a:ext cx="3840480" cy="32232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65A82"/>
                </a:solidFill>
              </a:rPr>
              <a:t>Perception Test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12 items per form (3 per tone T1–T4)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Items randomised per participant (seeded by participant ID)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Scored: proportion correct (0–12 per participant)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Responses stored in Google Sheets via gspread</a:t>
            </a:r>
          </a:p>
          <a:p>
            <a:pPr algn="l"/>
            <a:endParaRPr sz="1100" b="0" i="0">
              <a:solidFill>
                <a:srgbClr val="1A2B3C"/>
              </a:solidFill>
            </a:endParaRPr>
          </a:p>
          <a:p>
            <a:pPr algn="l"/>
            <a:r>
              <a:rPr sz="1200" b="1" i="0">
                <a:solidFill>
                  <a:srgbClr val="065A82"/>
                </a:solidFill>
              </a:rPr>
              <a:t>Speaker Design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Form A — Female Voice 1 &amp; Male Voice 1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Form B — Female Voice 2 &amp; Male Voice 2  (new, unseen speakers)</a:t>
            </a:r>
          </a:p>
          <a:p>
            <a:pPr algn="l"/>
            <a:endParaRPr sz="1100" b="0" i="0">
              <a:solidFill>
                <a:srgbClr val="1A2B3C"/>
              </a:solidFill>
            </a:endParaRPr>
          </a:p>
          <a:p>
            <a:pPr algn="l"/>
            <a:r>
              <a:rPr sz="1200" b="1" i="0">
                <a:solidFill>
                  <a:srgbClr val="065A82"/>
                </a:solidFill>
              </a:rPr>
              <a:t>TAM Survey  (Technology Acceptance Model)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8 Likert items, 5-point scale (1 = strongly disagree → 5 = strongly agree)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Constructs: perceived usefulness, ease of use, reuse intent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1 open-ended question for qualitative feedback</a:t>
            </a:r>
          </a:p>
          <a:p>
            <a:pPr algn="l"/>
            <a:endParaRPr sz="1100" b="0" i="0">
              <a:solidFill>
                <a:srgbClr val="1A2B3C"/>
              </a:solidFill>
            </a:endParaRPr>
          </a:p>
          <a:p>
            <a:pPr algn="l"/>
            <a:r>
              <a:rPr sz="1200" b="1" i="0">
                <a:solidFill>
                  <a:srgbClr val="065A82"/>
                </a:solidFill>
              </a:rPr>
              <a:t>Participant IDs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Auto-generated 8-char hex ID shown at end of Form A</a:t>
            </a:r>
          </a:p>
          <a:p>
            <a:pPr algn="l"/>
            <a:r>
              <a:rPr sz="1100" b="0" i="0">
                <a:solidFill>
                  <a:srgbClr val="1A2B3C"/>
                </a:solidFill>
              </a:rPr>
              <a:t>• Participants enter their ID to link Form A → Form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Participant Demographics  —  19 Perception Test · 16 TAM Survey Respondents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2743200" cy="4000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27432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5200" b="1" i="0">
                <a:solidFill>
                  <a:srgbClr val="02C39A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14440"/>
            <a:ext cx="2743200" cy="28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CADCFC"/>
                </a:solidFill>
              </a:rPr>
              <a:t>Paired participants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14440"/>
            <a:ext cx="237744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2194440"/>
            <a:ext cx="2560320" cy="4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CADCFC"/>
                </a:solidFill>
              </a:rPr>
              <a:t>13 paired (both forms)</a:t>
            </a:r>
          </a:p>
          <a:p>
            <a:pPr algn="ctr">
              <a:spcBef>
                <a:spcPts val="600"/>
              </a:spcBef>
            </a:pPr>
            <a:r>
              <a:rPr sz="1100" b="0" i="0">
                <a:solidFill>
                  <a:srgbClr val="5A7A8A"/>
                </a:solidFill>
              </a:rPr>
              <a:t>6 Form A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44440"/>
            <a:ext cx="237744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" y="2724440"/>
            <a:ext cx="27432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02C39A"/>
                </a:solidFill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04440"/>
            <a:ext cx="2560320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 i="0">
                <a:solidFill>
                  <a:srgbClr val="CADCFC"/>
                </a:solidFill>
              </a:rPr>
              <a:t>TAM respondents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60120"/>
            <a:ext cx="2743200" cy="400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0" y="960120"/>
            <a:ext cx="2743200" cy="3200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051560"/>
            <a:ext cx="25603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Prior Mandarin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463040"/>
            <a:ext cx="2377440" cy="33147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Never studied before:  11 / 16  (69%)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More than 2 years:      3 / 16  (19%)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Less than 6 months:    2 / 16  (13%)</a:t>
            </a:r>
          </a:p>
          <a:p>
            <a:pPr algn="l"/>
            <a:endParaRPr sz="1100" b="0" i="0">
              <a:solidFill>
                <a:srgbClr val="1A2B3C"/>
              </a:solidFill>
            </a:endParaRPr>
          </a:p>
          <a:p>
            <a:pPr algn="l"/>
            <a:r>
              <a:rPr sz="1000" b="0" i="1">
                <a:solidFill>
                  <a:srgbClr val="5A7A8A"/>
                </a:solidFill>
              </a:rPr>
              <a:t>69% of respondents had no prior Mandarin exposure — confirming the target population of complete novices.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960120"/>
            <a:ext cx="2743200" cy="400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960120"/>
            <a:ext cx="2743200" cy="3200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0" y="1051560"/>
            <a:ext cx="25603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Native Language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463040"/>
            <a:ext cx="2377440" cy="33147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1A2B3C"/>
                </a:solidFill>
              </a:rPr>
              <a:t>English (all variants)  7 / 16  (44%)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Mandarin / Chinese      3 / 16  (19%)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Kannada / Tulu          2 / 16  (13%)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Hindi                   1 / 16  (6%)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Farsi                   1 / 16  (6%)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Malayalam               1 / 16  (6%)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Swahili                 1 / 16  (6%)</a:t>
            </a:r>
          </a:p>
          <a:p>
            <a:pPr algn="l"/>
            <a:endParaRPr sz="1100" b="0" i="0">
              <a:solidFill>
                <a:srgbClr val="1A2B3C"/>
              </a:solidFill>
            </a:endParaRPr>
          </a:p>
          <a:p>
            <a:pPr algn="l"/>
            <a:r>
              <a:rPr sz="1000" b="0" i="1">
                <a:solidFill>
                  <a:srgbClr val="5A7A8A"/>
                </a:solidFill>
              </a:rPr>
              <a:t>Native/heritage Mandarin speakers (n=3) flagged — different performance profile from novices.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Pre/Post Perception Test Results  —  13 Paired Participants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2400000" cy="4000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2400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400" b="1" i="0">
                <a:solidFill>
                  <a:srgbClr val="02C39A"/>
                </a:solidFill>
              </a:rPr>
              <a:t>+10.3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14440"/>
            <a:ext cx="2217120" cy="25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CADCFC"/>
                </a:solidFill>
              </a:rPr>
              <a:t>Mean accuracy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94440"/>
            <a:ext cx="2217120" cy="28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53.8%  →  64.1%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34440"/>
            <a:ext cx="203424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2514440"/>
            <a:ext cx="2217120" cy="2263300"/>
          </a:xfrm>
          <a:prstGeom prst="rect">
            <a:avLst/>
          </a:prstGeom>
          <a:solidFill>
            <a:srgbClr val="0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697320"/>
            <a:ext cx="2034240" cy="2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2C39A"/>
                </a:solidFill>
              </a:rPr>
              <a:t>Statistical 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97320"/>
            <a:ext cx="2034240" cy="17604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CADCFC"/>
                </a:solidFill>
              </a:rPr>
              <a:t>Wilcoxon signed-rank test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W = 13.5,  p = 0.087 (two-sided)</a:t>
            </a:r>
          </a:p>
          <a:p>
            <a:pPr algn="l"/>
            <a:endParaRPr sz="1000" b="0" i="0">
              <a:solidFill>
                <a:srgbClr val="1A2B3C"/>
              </a:solidFill>
            </a:endParaRPr>
          </a:p>
          <a:p>
            <a:pPr algn="l"/>
            <a:r>
              <a:rPr sz="1000" b="1" i="0">
                <a:solidFill>
                  <a:srgbClr val="CADCFC"/>
                </a:solidFill>
              </a:rPr>
              <a:t>Paired t-test (reference)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t = −2.17,  p = 0.051</a:t>
            </a:r>
          </a:p>
          <a:p>
            <a:pPr algn="l"/>
            <a:endParaRPr sz="1000" b="0" i="0">
              <a:solidFill>
                <a:srgbClr val="1A2B3C"/>
              </a:solidFill>
            </a:endParaRPr>
          </a:p>
          <a:p>
            <a:pPr algn="l"/>
            <a:r>
              <a:rPr sz="1000" b="1" i="0">
                <a:solidFill>
                  <a:srgbClr val="CADCFC"/>
                </a:solidFill>
              </a:rPr>
              <a:t>n = 13 paired participants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3 items per tone per participant</a:t>
            </a:r>
          </a:p>
          <a:p>
            <a:pPr algn="l"/>
            <a:endParaRPr sz="1000" b="0" i="0">
              <a:solidFill>
                <a:srgbClr val="1A2B3C"/>
              </a:solidFill>
            </a:endParaRPr>
          </a:p>
          <a:p>
            <a:pPr algn="l"/>
            <a:r>
              <a:rPr sz="1000" b="1" i="0">
                <a:solidFill>
                  <a:srgbClr val="CADCFC"/>
                </a:solidFill>
              </a:rPr>
              <a:t>Interpretation</a:t>
            </a:r>
          </a:p>
          <a:p>
            <a:pPr algn="l"/>
            <a:r>
              <a:rPr sz="1000" b="0" i="0">
                <a:solidFill>
                  <a:srgbClr val="1A2B3C"/>
                </a:solidFill>
              </a:rPr>
              <a:t>Strong positive trend; p just above 0.05 threshold — marginal with n=13 (est. power ~35%)</a:t>
            </a:r>
          </a:p>
        </p:txBody>
      </p:sp>
      <p:pic>
        <p:nvPicPr>
          <p:cNvPr id="12" name="Picture 11" descr="prepo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200" y="960120"/>
            <a:ext cx="601248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Per-Tone Accuracy  —  Pre vs Post  (13 paired participants, 3 items / tone each)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2080260" cy="34376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960120"/>
            <a:ext cx="2080260" cy="3200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8973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T1  flat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714500" cy="27518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A7A8A"/>
                </a:solidFill>
              </a:rPr>
              <a:t>Pre-test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2196F3"/>
                </a:solidFill>
              </a:rPr>
              <a:t>53.8%</a:t>
            </a:r>
          </a:p>
          <a:p>
            <a:pPr algn="l"/>
            <a:endParaRPr sz="1400" b="1" i="0">
              <a:solidFill>
                <a:srgbClr val="2196F3"/>
              </a:solidFill>
            </a:endParaRPr>
          </a:p>
          <a:p>
            <a:pPr algn="l"/>
            <a:r>
              <a:rPr sz="1000" b="1" i="0">
                <a:solidFill>
                  <a:srgbClr val="1A2B3C"/>
                </a:solidFill>
              </a:rPr>
              <a:t>Post-test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2196F3"/>
                </a:solidFill>
              </a:rPr>
              <a:t>69.2%</a:t>
            </a:r>
          </a:p>
          <a:p>
            <a:pPr algn="l"/>
            <a:endParaRPr sz="1400" b="1" i="0">
              <a:solidFill>
                <a:srgbClr val="2196F3"/>
              </a:solidFill>
            </a:endParaRPr>
          </a:p>
          <a:p>
            <a:pPr algn="l"/>
            <a:endParaRPr sz="1400" b="1" i="0">
              <a:solidFill>
                <a:srgbClr val="2196F3"/>
              </a:solidFill>
            </a:endParaRPr>
          </a:p>
          <a:p>
            <a:pPr algn="ctr"/>
            <a:r>
              <a:rPr sz="1600" b="1" i="0">
                <a:solidFill>
                  <a:srgbClr val="2196F3"/>
                </a:solidFill>
              </a:rPr>
              <a:t>+15.4 pp ↑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6020" y="960120"/>
            <a:ext cx="2080260" cy="34376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46020" y="960120"/>
            <a:ext cx="2080260" cy="3200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37460" y="1051560"/>
            <a:ext cx="18973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T2  rising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1463040"/>
            <a:ext cx="1714500" cy="27518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A7A8A"/>
                </a:solidFill>
              </a:rPr>
              <a:t>Pre-test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4CAF50"/>
                </a:solidFill>
              </a:rPr>
              <a:t>53.8%</a:t>
            </a:r>
          </a:p>
          <a:p>
            <a:pPr algn="l"/>
            <a:endParaRPr sz="1400" b="1" i="0">
              <a:solidFill>
                <a:srgbClr val="4CAF50"/>
              </a:solidFill>
            </a:endParaRPr>
          </a:p>
          <a:p>
            <a:pPr algn="l"/>
            <a:r>
              <a:rPr sz="1000" b="1" i="0">
                <a:solidFill>
                  <a:srgbClr val="1A2B3C"/>
                </a:solidFill>
              </a:rPr>
              <a:t>Post-test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4CAF50"/>
                </a:solidFill>
              </a:rPr>
              <a:t>66.7%</a:t>
            </a:r>
          </a:p>
          <a:p>
            <a:pPr algn="l"/>
            <a:endParaRPr sz="1400" b="1" i="0">
              <a:solidFill>
                <a:srgbClr val="4CAF50"/>
              </a:solidFill>
            </a:endParaRPr>
          </a:p>
          <a:p>
            <a:pPr algn="l"/>
            <a:endParaRPr sz="1400" b="1" i="0">
              <a:solidFill>
                <a:srgbClr val="4CAF50"/>
              </a:solidFill>
            </a:endParaRPr>
          </a:p>
          <a:p>
            <a:pPr algn="ctr"/>
            <a:r>
              <a:rPr sz="1600" b="1" i="0">
                <a:solidFill>
                  <a:srgbClr val="4CAF50"/>
                </a:solidFill>
              </a:rPr>
              <a:t>+12.8 pp 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960120"/>
            <a:ext cx="2080260" cy="34376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17720" y="960120"/>
            <a:ext cx="2080260" cy="3200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9160" y="1051560"/>
            <a:ext cx="18973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T3  dipping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63040"/>
            <a:ext cx="1714500" cy="27518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A7A8A"/>
                </a:solidFill>
              </a:rPr>
              <a:t>Pre-test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FF9800"/>
                </a:solidFill>
              </a:rPr>
              <a:t>46.2%</a:t>
            </a:r>
          </a:p>
          <a:p>
            <a:pPr algn="l"/>
            <a:endParaRPr sz="1400" b="1" i="0">
              <a:solidFill>
                <a:srgbClr val="FF9800"/>
              </a:solidFill>
            </a:endParaRPr>
          </a:p>
          <a:p>
            <a:pPr algn="l"/>
            <a:r>
              <a:rPr sz="1000" b="1" i="0">
                <a:solidFill>
                  <a:srgbClr val="1A2B3C"/>
                </a:solidFill>
              </a:rPr>
              <a:t>Post-test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FF9800"/>
                </a:solidFill>
              </a:rPr>
              <a:t>66.7%</a:t>
            </a:r>
          </a:p>
          <a:p>
            <a:pPr algn="l"/>
            <a:endParaRPr sz="1400" b="1" i="0">
              <a:solidFill>
                <a:srgbClr val="FF9800"/>
              </a:solidFill>
            </a:endParaRPr>
          </a:p>
          <a:p>
            <a:pPr algn="l"/>
            <a:endParaRPr sz="1400" b="1" i="0">
              <a:solidFill>
                <a:srgbClr val="FF9800"/>
              </a:solidFill>
            </a:endParaRPr>
          </a:p>
          <a:p>
            <a:pPr algn="ctr"/>
            <a:r>
              <a:rPr sz="1600" b="1" i="0">
                <a:solidFill>
                  <a:srgbClr val="FF9800"/>
                </a:solidFill>
              </a:rPr>
              <a:t>+20.5 pp 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9420" y="960120"/>
            <a:ext cx="2080260" cy="34376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789420" y="960120"/>
            <a:ext cx="2080260" cy="3200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0860" y="1051560"/>
            <a:ext cx="18973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T4  falling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2300" y="1463040"/>
            <a:ext cx="1714500" cy="27518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5A7A8A"/>
                </a:solidFill>
              </a:rPr>
              <a:t>Pre-test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F44336"/>
                </a:solidFill>
              </a:rPr>
              <a:t>61.5%</a:t>
            </a:r>
          </a:p>
          <a:p>
            <a:pPr algn="l"/>
            <a:endParaRPr sz="1400" b="1" i="0">
              <a:solidFill>
                <a:srgbClr val="F44336"/>
              </a:solidFill>
            </a:endParaRPr>
          </a:p>
          <a:p>
            <a:pPr algn="l"/>
            <a:r>
              <a:rPr sz="1000" b="1" i="0">
                <a:solidFill>
                  <a:srgbClr val="1A2B3C"/>
                </a:solidFill>
              </a:rPr>
              <a:t>Post-test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F44336"/>
                </a:solidFill>
              </a:rPr>
              <a:t>53.8%</a:t>
            </a:r>
          </a:p>
          <a:p>
            <a:pPr algn="l"/>
            <a:endParaRPr sz="1400" b="1" i="0">
              <a:solidFill>
                <a:srgbClr val="F44336"/>
              </a:solidFill>
            </a:endParaRPr>
          </a:p>
          <a:p>
            <a:pPr algn="l"/>
            <a:endParaRPr sz="1400" b="1" i="0">
              <a:solidFill>
                <a:srgbClr val="F44336"/>
              </a:solidFill>
            </a:endParaRPr>
          </a:p>
          <a:p>
            <a:pPr algn="ctr"/>
            <a:r>
              <a:rPr sz="1600" b="1" i="0">
                <a:solidFill>
                  <a:srgbClr val="F44336"/>
                </a:solidFill>
              </a:rPr>
              <a:t>−7.7 pp 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489180"/>
            <a:ext cx="8595360" cy="38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672060"/>
            <a:ext cx="8229600" cy="14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1A2B3C"/>
                </a:solidFill>
              </a:rPr>
              <a:t>Key observations:  T3 (dipping) showed the largest gain (+20.5 pp) — likely benefiting from the pitch contour visualisation.  T4 declined (−7.7 pp) — possibly harder Form B stimuli or high variance with only 3 items per tone.  Caution: n=13, 3 items/tone = limited statistical power.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App Feedback  —  TAM Usability Survey  (n = 16,  1–5 Likert scale)</a:t>
            </a:r>
          </a:p>
        </p:txBody>
      </p:sp>
      <p:pic>
        <p:nvPicPr>
          <p:cNvPr id="4" name="Picture 3" descr="survey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5157216" cy="39090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14416" y="960120"/>
            <a:ext cx="3255264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14416" y="1143000"/>
            <a:ext cx="3255264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02C39A"/>
                </a:solidFill>
              </a:rPr>
              <a:t>3.96 / 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05856" y="1643000"/>
            <a:ext cx="3072384" cy="3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CADCFC"/>
                </a:solidFill>
              </a:rPr>
              <a:t>Overall mean (8 items)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614416" y="2011680"/>
            <a:ext cx="3255264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14416" y="2011680"/>
            <a:ext cx="380000" cy="4400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14416" y="2103120"/>
            <a:ext cx="380000" cy="2571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4.19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5856" y="2103120"/>
            <a:ext cx="2692384" cy="2571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1A2B3C"/>
                </a:solidFill>
              </a:rPr>
              <a:t>Would recommend to others  (highest)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14416" y="2511680"/>
            <a:ext cx="3255264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14416" y="2511680"/>
            <a:ext cx="380000" cy="4400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14416" y="2603120"/>
            <a:ext cx="380000" cy="2571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4.12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5856" y="2603120"/>
            <a:ext cx="2692384" cy="2571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1A2B3C"/>
                </a:solidFill>
              </a:rPr>
              <a:t>Overall app useful for learning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14416" y="3011680"/>
            <a:ext cx="3255264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14416" y="3011680"/>
            <a:ext cx="380000" cy="440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14416" y="3103120"/>
            <a:ext cx="380000" cy="2571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4.06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5856" y="3103120"/>
            <a:ext cx="2692384" cy="2571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1A2B3C"/>
                </a:solidFill>
              </a:rPr>
              <a:t>Would use app again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14416" y="3511680"/>
            <a:ext cx="3255264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14416" y="3511680"/>
            <a:ext cx="380000" cy="44000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14416" y="3603120"/>
            <a:ext cx="380000" cy="2571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5856" y="3603120"/>
            <a:ext cx="2692384" cy="2571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1A2B3C"/>
                </a:solidFill>
              </a:rPr>
              <a:t>Recording &amp; feedback straightforward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14416" y="4011680"/>
            <a:ext cx="3255264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14416" y="4011680"/>
            <a:ext cx="380000" cy="440000"/>
          </a:xfrm>
          <a:prstGeom prst="rect">
            <a:avLst/>
          </a:prstGeom>
          <a:solidFill>
            <a:srgbClr val="5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14416" y="4103120"/>
            <a:ext cx="380000" cy="2571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3.69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5856" y="4103120"/>
            <a:ext cx="2692384" cy="2571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1A2B3C"/>
                </a:solidFill>
              </a:rPr>
              <a:t>Helped understand tones  (lowest)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903500"/>
            <a:ext cx="8595360" cy="2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5A7A8A"/>
                </a:solidFill>
              </a:rPr>
              <a:t>⚠ Respondent 13 (native Mandarin speaker who couldn’t navigate the app) gave all 1s — excluding this outlier raises the overall mean to 4.09.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2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Key Findings &amp;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2743200" cy="3617620"/>
          </a:xfrm>
          <a:prstGeom prst="rect">
            <a:avLst/>
          </a:prstGeom>
          <a:solidFill>
            <a:srgbClr val="0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960120"/>
            <a:ext cx="2743200" cy="3200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25603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What Worked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2377440" cy="29318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Positive pre→post trend (+10.3 pp) across all non-native participants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T3 (dipping) largest gain (+20.5 pp) — pitch contour most helpful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TAM overall usefulness &amp; reuse intent both 4.12 / 5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Pitch contour overlay praised in open-ended feedback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Disyllabic mode broadened practice scope successfully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960120"/>
            <a:ext cx="2743200" cy="3617620"/>
          </a:xfrm>
          <a:prstGeom prst="rect">
            <a:avLst/>
          </a:prstGeom>
          <a:solidFill>
            <a:srgbClr val="0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0" y="960120"/>
            <a:ext cx="2743200" cy="3200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051560"/>
            <a:ext cx="25603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Participant Feedback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63040"/>
            <a:ext cx="2377440" cy="29318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T2 vs T3 perceptually hard to distinguish — confirmed by test data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No target audio before recording — users wanted to hear word first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“Too noisy / too quiet” error not specific enough to act on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More words requested; 40-word list feels limited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App navigation confusing for one participant on first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960120"/>
            <a:ext cx="2743200" cy="3617620"/>
          </a:xfrm>
          <a:prstGeom prst="rect">
            <a:avLst/>
          </a:prstGeom>
          <a:solidFill>
            <a:srgbClr val="0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26480" y="960120"/>
            <a:ext cx="2743200" cy="3200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1051560"/>
            <a:ext cx="25603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2377440" cy="29318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n = 13 paired — underpowered pilot (est. power ~35%)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Asynchronous: no control over practice time or noise environment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T4 decline (−7.7 pp) likely Form B difficulty, not regression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3 native speakers in sample — different performance profile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CADCFC"/>
                </a:solidFill>
              </a:rPr>
              <a:t>•  SVM misclassifies some correct native-speaker productions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760620"/>
            <a:ext cx="8595360" cy="291440"/>
          </a:xfrm>
          <a:prstGeom prst="rect">
            <a:avLst/>
          </a:prstGeom>
          <a:solidFill>
            <a:srgbClr val="0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943500"/>
            <a:ext cx="8046720" cy="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1">
                <a:solidFill>
                  <a:srgbClr val="02C39A"/>
                </a:solidFill>
              </a:rPr>
              <a:t>“The app is well planned and designed in a way that makes it very easy for the user to learn Mandarin.”  — Participant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What’s Next  —  Weeks 14–16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60120"/>
            <a:ext cx="2743200" cy="362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4320" y="960120"/>
            <a:ext cx="2743200" cy="34747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2560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Week 14 · Deep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377440" cy="29072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Per-participant learning curve analysis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Subgroup: novices vs prior Mandarin learners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Perception test confusion matrix (which tones mixed up)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Correlate TAM scores with learning gains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960120"/>
            <a:ext cx="2743200" cy="362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0" y="960120"/>
            <a:ext cx="2743200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051560"/>
            <a:ext cx="2560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Weeks 14–15 · Paper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90472"/>
            <a:ext cx="2377440" cy="29072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Introduction &amp; literature review (CAPT, Noticing Hypothesis, TAM)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Methods: system design + study protocol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Results: quantitative pre/post + qualitative survey themes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Discussion: implications, limitations, future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960120"/>
            <a:ext cx="2743200" cy="3620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26480" y="960120"/>
            <a:ext cx="274320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1051560"/>
            <a:ext cx="2560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Week 16 · Final Submission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90472"/>
            <a:ext cx="2377440" cy="29072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Complete paper (course format)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Final video walkthrough of the system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Open-source release on GitHub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1A2B3C"/>
                </a:solidFill>
              </a:rPr>
              <a:t>✓  Optional: add target-word audio examples to the app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672060"/>
            <a:ext cx="8595360" cy="380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854940"/>
            <a:ext cx="8229600" cy="142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1" i="0">
                <a:solidFill>
                  <a:srgbClr val="02C39A"/>
                </a:solidFill>
              </a:rPr>
              <a:t>Weeks 8–13 complete  ·  Evaluation done  ·  19 perception test · 16 TAM survey  ·  Data collected  ·  Analysis scripts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1307</Words>
  <Application>Microsoft Macintosh PowerPoint</Application>
  <PresentationFormat>On-screen Show (16:9)</PresentationFormat>
  <Paragraphs>204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Bharath Jagadish</cp:lastModifiedBy>
  <cp:revision>2</cp:revision>
  <dcterms:created xsi:type="dcterms:W3CDTF">2013-01-27T09:14:16Z</dcterms:created>
  <dcterms:modified xsi:type="dcterms:W3CDTF">2026-04-11T08:32:31Z</dcterms:modified>
  <cp:category/>
</cp:coreProperties>
</file>