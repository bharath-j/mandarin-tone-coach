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39" d="100"/>
          <a:sy n="139" d="100"/>
        </p:scale>
        <p:origin x="184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00000"/>
            <a:ext cx="841248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 dirty="0">
                <a:solidFill>
                  <a:srgbClr val="FFFFFF"/>
                </a:solidFill>
              </a:rPr>
              <a:t>Mandarin Tone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0000"/>
            <a:ext cx="7500000" cy="4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02C39A"/>
                </a:solidFill>
              </a:rPr>
              <a:t>Adaptive Pitch Feedback for L2 Mandarin Tone Learning</a:t>
            </a:r>
          </a:p>
        </p:txBody>
      </p:sp>
      <p:sp>
        <p:nvSpPr>
          <p:cNvPr id="6" name="Rectangle 5"/>
          <p:cNvSpPr/>
          <p:nvPr/>
        </p:nvSpPr>
        <p:spPr>
          <a:xfrm flipV="1">
            <a:off x="549600" y="2895446"/>
            <a:ext cx="3974144" cy="45719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1701138-3828-6F43-06D7-D15B80239063}"/>
              </a:ext>
            </a:extLst>
          </p:cNvPr>
          <p:cNvSpPr/>
          <p:nvPr/>
        </p:nvSpPr>
        <p:spPr>
          <a:xfrm>
            <a:off x="548640" y="2360000"/>
            <a:ext cx="190856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Presentation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8872BA6-66A1-6128-6CE1-3908976621D4}"/>
              </a:ext>
            </a:extLst>
          </p:cNvPr>
          <p:cNvSpPr/>
          <p:nvPr/>
        </p:nvSpPr>
        <p:spPr>
          <a:xfrm>
            <a:off x="2615184" y="2360000"/>
            <a:ext cx="190856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Video Link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606A70E-08D4-BCE3-ED9C-4171BB51B053}"/>
              </a:ext>
            </a:extLst>
          </p:cNvPr>
          <p:cNvSpPr/>
          <p:nvPr/>
        </p:nvSpPr>
        <p:spPr>
          <a:xfrm>
            <a:off x="548640" y="313453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Jagadish (bjagadish3@gatech.edu)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CS6460 Educational Technology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The Problem — Why Mandarin Tones Are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11552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41155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9326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74976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Mandarin is the world's most spoken language.</a:t>
            </a:r>
          </a:p>
          <a:p>
            <a:pPr algn="l"/>
            <a:endParaRPr sz="1200" b="1" i="0">
              <a:solidFill>
                <a:srgbClr val="065A82"/>
              </a:solidFill>
            </a:endParaRPr>
          </a:p>
          <a:p>
            <a:pPr algn="l"/>
            <a:r>
              <a:rPr sz="1100" b="0" i="0">
                <a:solidFill>
                  <a:srgbClr val="1A2B3C"/>
                </a:solidFill>
              </a:rPr>
              <a:t>Its four lexical tones make it notoriously difficult for speakers of non-tonal languages like English.</a:t>
            </a:r>
          </a:p>
          <a:p>
            <a:pPr algn="l"/>
            <a:endParaRPr sz="1100" b="0" i="0">
              <a:solidFill>
                <a:srgbClr val="1A2B3C"/>
              </a:solidFill>
            </a:endParaRPr>
          </a:p>
          <a:p>
            <a:pPr algn="l"/>
            <a:r>
              <a:rPr sz="1100" b="1" i="0">
                <a:solidFill>
                  <a:srgbClr val="065A82"/>
                </a:solidFill>
              </a:rPr>
              <a:t>The same syllable — four different words:</a:t>
            </a:r>
          </a:p>
          <a:p>
            <a:pPr algn="l"/>
            <a:r>
              <a:rPr sz="1200" b="1" i="0">
                <a:solidFill>
                  <a:srgbClr val="02C39A"/>
                </a:solidFill>
              </a:rPr>
              <a:t>mā (mother)  ·  má (hemp)  ·  mǎ (horse)  ·  mà (scold)</a:t>
            </a:r>
          </a:p>
          <a:p>
            <a:pPr algn="l"/>
            <a:endParaRPr sz="1200" b="1" i="0">
              <a:solidFill>
                <a:srgbClr val="02C39A"/>
              </a:solidFill>
            </a:endParaRPr>
          </a:p>
          <a:p>
            <a:pPr algn="l"/>
            <a:r>
              <a:rPr sz="1100" b="1" i="0">
                <a:solidFill>
                  <a:srgbClr val="065A82"/>
                </a:solidFill>
              </a:rPr>
              <a:t>The core difficulty: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Tone perception is a trained skill — non-tonal language speakers' auditory systems are not tuned to hear pitch as meaning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Learners need high-repetition, low-stakes practice with immediate, specific feedback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Classroom time is limited; self-study tools rarely provide acoustic-level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720" y="960120"/>
            <a:ext cx="411552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720" y="960120"/>
            <a:ext cx="411552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4160" y="1051560"/>
            <a:ext cx="39326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5600" y="1463040"/>
            <a:ext cx="374976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 dirty="0">
                <a:solidFill>
                  <a:srgbClr val="065A82"/>
                </a:solidFill>
              </a:rPr>
              <a:t>What learners need: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Instant acoustic feedback on their own voice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Visual comparison: what they said vs. what they should say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Plain-language guidance — not just right/wrong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Zero installation, accessible from any browser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100" b="1" i="0" dirty="0">
                <a:solidFill>
                  <a:srgbClr val="065A82"/>
                </a:solidFill>
              </a:rPr>
              <a:t>What existing tools offer: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Most CAPT systems are desktop-only, lab-based, or require expensive hardware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Commercial apps (Duolingo, </a:t>
            </a:r>
            <a:r>
              <a:rPr sz="1000" b="0" i="0" dirty="0" err="1">
                <a:solidFill>
                  <a:srgbClr val="1A2B3C"/>
                </a:solidFill>
              </a:rPr>
              <a:t>HelloChinese</a:t>
            </a:r>
            <a:r>
              <a:rPr sz="1000" b="0" i="0" dirty="0">
                <a:solidFill>
                  <a:srgbClr val="1A2B3C"/>
                </a:solidFill>
              </a:rPr>
              <a:t>) provide right/wrong feedback only — no pitch contour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Research prototypes not publicly accessible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100" b="1" i="0" dirty="0">
                <a:solidFill>
                  <a:srgbClr val="02C39A"/>
                </a:solidFill>
              </a:rPr>
              <a:t>→  No lightweight, browser-based tool with real-time visual pitch feedback exists for non-tonal learners.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Related Work — Where This Project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74320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7432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CAPT for Mandarin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37744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Computer-Assisted Pronunciation Training (CAPT) systems for Mandarin have demonstrated measurable gains in tone perception.</a:t>
            </a:r>
          </a:p>
          <a:p>
            <a:pPr algn="l"/>
            <a:endParaRPr sz="1000" b="0" i="0">
              <a:solidFill>
                <a:srgbClr val="1A2B3C"/>
              </a:solidFill>
            </a:endParaRPr>
          </a:p>
          <a:p>
            <a:pPr algn="l"/>
            <a:r>
              <a:rPr sz="1000" b="1" i="0">
                <a:solidFill>
                  <a:srgbClr val="065A82"/>
                </a:solidFill>
              </a:rPr>
              <a:t>Wang et al. (2003)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First large-scale CAPT study for Mandarin tones; showed short-term perceptual gains with ASR feedback.</a:t>
            </a:r>
          </a:p>
          <a:p>
            <a:pPr algn="l"/>
            <a:endParaRPr sz="1000" b="0" i="0">
              <a:solidFill>
                <a:srgbClr val="1A2B3C"/>
              </a:solidFill>
            </a:endParaRPr>
          </a:p>
          <a:p>
            <a:pPr algn="l"/>
            <a:r>
              <a:rPr sz="1000" b="1" i="0">
                <a:solidFill>
                  <a:srgbClr val="065A82"/>
                </a:solidFill>
              </a:rPr>
              <a:t>Hincks (2003)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Demonstrated learner benefit from visual pitch displays in prosody training.</a:t>
            </a:r>
          </a:p>
          <a:p>
            <a:pPr algn="l"/>
            <a:endParaRPr sz="1000" b="0" i="0">
              <a:solidFill>
                <a:srgbClr val="1A2B3C"/>
              </a:solidFill>
            </a:endParaRPr>
          </a:p>
          <a:p>
            <a:pPr algn="l"/>
            <a:r>
              <a:rPr sz="1000" b="0" i="1">
                <a:solidFill>
                  <a:srgbClr val="5A7A8A"/>
                </a:solidFill>
              </a:rPr>
              <a:t>Gap: systems were lab-based, not publicly accessible, and lacked per-tone corrective messaging.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960120"/>
            <a:ext cx="274320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960120"/>
            <a:ext cx="274320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Automatic Tone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37744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 dirty="0">
                <a:solidFill>
                  <a:srgbClr val="1A2B3C"/>
                </a:solidFill>
              </a:rPr>
              <a:t>Accurate automatic classification of Mandarin tones from learner speech is a prerequisite for real-time feedback.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000" b="1" i="0" dirty="0">
                <a:solidFill>
                  <a:srgbClr val="065A82"/>
                </a:solidFill>
              </a:rPr>
              <a:t>Xu et al. (2004)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F0 contour shape features (slope, height, curvature) are the primary cue for tone classification.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000" b="1" i="0" dirty="0">
                <a:solidFill>
                  <a:srgbClr val="065A82"/>
                </a:solidFill>
              </a:rPr>
              <a:t>Chao (1968)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Five-level tone letter system — the canonical reference used to derive pitch contour targets.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000" b="1" i="0" dirty="0">
                <a:solidFill>
                  <a:srgbClr val="02C39A"/>
                </a:solidFill>
              </a:rPr>
              <a:t>This work: SVM RBF classifier on 27 speaker-normalized F0 features — 91.95% speaker-independent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60120"/>
            <a:ext cx="274320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960120"/>
            <a:ext cx="274320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Multimodal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237744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Visual pitch overlays and corrective text feedback together outperform audio-only or text-only approaches.</a:t>
            </a:r>
          </a:p>
          <a:p>
            <a:pPr algn="l"/>
            <a:endParaRPr sz="1000" b="0" i="0">
              <a:solidFill>
                <a:srgbClr val="1A2B3C"/>
              </a:solidFill>
            </a:endParaRPr>
          </a:p>
          <a:p>
            <a:pPr algn="l"/>
            <a:r>
              <a:rPr sz="1000" b="1" i="0">
                <a:solidFill>
                  <a:srgbClr val="065A82"/>
                </a:solidFill>
              </a:rPr>
              <a:t>Lin (2007)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T3 sandhi (dipping → rising before another T3) — phonological rule built into the feedback system.</a:t>
            </a:r>
          </a:p>
          <a:p>
            <a:pPr algn="l"/>
            <a:endParaRPr sz="1000" b="0" i="0">
              <a:solidFill>
                <a:srgbClr val="1A2B3C"/>
              </a:solidFill>
            </a:endParaRPr>
          </a:p>
          <a:p>
            <a:pPr algn="l"/>
            <a:r>
              <a:rPr sz="1000" b="1" i="0">
                <a:solidFill>
                  <a:srgbClr val="065A82"/>
                </a:solidFill>
              </a:rPr>
              <a:t>Hincks (2003)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Pitch displays increase learner self-monitoring and reduce trial-and-error time.</a:t>
            </a:r>
          </a:p>
          <a:p>
            <a:pPr algn="l"/>
            <a:endParaRPr sz="1000" b="0" i="0">
              <a:solidFill>
                <a:srgbClr val="1A2B3C"/>
              </a:solidFill>
            </a:endParaRPr>
          </a:p>
          <a:p>
            <a:pPr algn="l"/>
            <a:r>
              <a:rPr sz="1000" b="1" i="0">
                <a:solidFill>
                  <a:srgbClr val="02C39A"/>
                </a:solidFill>
              </a:rPr>
              <a:t>This work: real-time pitch overlay + 12 tone-pair corrective messages + confidence bar chart.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Mandarin Tone Coach — 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1" y="960120"/>
            <a:ext cx="5935648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19" y="960120"/>
            <a:ext cx="5935649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6171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1463040"/>
            <a:ext cx="5752769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 dirty="0">
                <a:solidFill>
                  <a:srgbClr val="02C39A"/>
                </a:solidFill>
              </a:rPr>
              <a:t>Browser-based · zero install · works on any device</a:t>
            </a:r>
          </a:p>
          <a:p>
            <a:pPr algn="l"/>
            <a:endParaRPr sz="1100" b="1" i="0" dirty="0">
              <a:solidFill>
                <a:srgbClr val="02C39A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① Record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User records a Mandarin syllable or word in the browser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② Extract F0</a:t>
            </a:r>
          </a:p>
          <a:p>
            <a:pPr algn="l"/>
            <a:r>
              <a:rPr sz="1000" b="0" i="0" dirty="0" err="1">
                <a:solidFill>
                  <a:srgbClr val="1A2B3C"/>
                </a:solidFill>
              </a:rPr>
              <a:t>Parselmouth</a:t>
            </a:r>
            <a:r>
              <a:rPr sz="1000" b="0" i="0" dirty="0">
                <a:solidFill>
                  <a:srgbClr val="1A2B3C"/>
                </a:solidFill>
              </a:rPr>
              <a:t> (</a:t>
            </a:r>
            <a:r>
              <a:rPr sz="1000" b="0" i="0" dirty="0" err="1">
                <a:solidFill>
                  <a:srgbClr val="1A2B3C"/>
                </a:solidFill>
              </a:rPr>
              <a:t>Praat</a:t>
            </a:r>
            <a:r>
              <a:rPr sz="1000" b="0" i="0" dirty="0">
                <a:solidFill>
                  <a:srgbClr val="1A2B3C"/>
                </a:solidFill>
              </a:rPr>
              <a:t>) extracts pitch contour (75–500 Hz); normalized to semitones relative to speaker mean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③ Classify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SVM RBF classifier · 27 features · 91.95% accuracy · 3 post-processing rules for T2/T3 edge cases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④ Visualize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Learner pitch overlay (red) vs. canonical reference (blue dashed) + confidence bar chart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⑤ Feedback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Plain-language corrective message for every tone-pair combination; T3 sandhi accepted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100" b="1" i="0" dirty="0">
                <a:solidFill>
                  <a:srgbClr val="065A82"/>
                </a:solidFill>
              </a:rPr>
              <a:t>Two modes: monosyllabic (40 words) · disyllabic (20 words)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825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841248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0000"/>
            <a:ext cx="841248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mandarin-tone-coach.streamlit.app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600000"/>
            <a:ext cx="36576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750000"/>
            <a:ext cx="841248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Switching to browser now  →  practice app · perception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The Study — One Session, Three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74320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7432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①  Pre-test  (Form 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37744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12 audio clips</a:t>
            </a:r>
          </a:p>
          <a:p>
            <a:pPr algn="l"/>
            <a:r>
              <a:rPr sz="1100" b="0" i="0">
                <a:solidFill>
                  <a:srgbClr val="1A2B3C"/>
                </a:solidFill>
              </a:rPr>
              <a:t>Select the Mandarin tone you hear (T1–T4)</a:t>
            </a:r>
          </a:p>
          <a:p>
            <a:pPr algn="l"/>
            <a:endParaRPr sz="1100" b="0" i="0">
              <a:solidFill>
                <a:srgbClr val="1A2B3C"/>
              </a:solidFill>
            </a:endParaRPr>
          </a:p>
          <a:p>
            <a:pPr algn="l"/>
            <a:r>
              <a:rPr sz="1000" b="0" i="0">
                <a:solidFill>
                  <a:srgbClr val="1A2B3C"/>
                </a:solidFill>
              </a:rPr>
              <a:t>• 3 items per tone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Female Voice 1 + Male Voice 1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No feedback given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~2–3 minutes</a:t>
            </a:r>
          </a:p>
          <a:p>
            <a:pPr algn="l"/>
            <a:endParaRPr sz="1000" b="0" i="0">
              <a:solidFill>
                <a:srgbClr val="1A2B3C"/>
              </a:solidFill>
            </a:endParaRPr>
          </a:p>
          <a:p>
            <a:pPr algn="l"/>
            <a:r>
              <a:rPr sz="1100" b="1" i="0">
                <a:solidFill>
                  <a:srgbClr val="02C39A"/>
                </a:solidFill>
              </a:rPr>
              <a:t>n = 19 participants completed Form 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960120"/>
            <a:ext cx="274320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960120"/>
            <a:ext cx="274320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②  Practice the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37744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 dirty="0">
                <a:solidFill>
                  <a:srgbClr val="065A82"/>
                </a:solidFill>
              </a:rPr>
              <a:t>5–10 minutes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Mandarin Tone Coach — free practice</a:t>
            </a:r>
          </a:p>
          <a:p>
            <a:pPr algn="l"/>
            <a:endParaRPr sz="1100" b="0" i="0" dirty="0">
              <a:solidFill>
                <a:srgbClr val="1A2B3C"/>
              </a:solidFill>
            </a:endParaRP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Monosyllabic &amp; disyllabic words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Real-time pitch contour feedback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Corrective text guidance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Self-paced, asynchronous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100" b="1" i="0" dirty="0">
                <a:solidFill>
                  <a:srgbClr val="02C39A"/>
                </a:solidFill>
              </a:rPr>
              <a:t>16 participants also completed TAM survey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60120"/>
            <a:ext cx="274320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960120"/>
            <a:ext cx="274320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③  Post-test  (Form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237744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12 new audio clips</a:t>
            </a:r>
          </a:p>
          <a:p>
            <a:pPr algn="l"/>
            <a:r>
              <a:rPr sz="1100" b="0" i="0">
                <a:solidFill>
                  <a:srgbClr val="1A2B3C"/>
                </a:solidFill>
              </a:rPr>
              <a:t>Same format, new speakers</a:t>
            </a:r>
          </a:p>
          <a:p>
            <a:pPr algn="l"/>
            <a:endParaRPr sz="1100" b="0" i="0">
              <a:solidFill>
                <a:srgbClr val="1A2B3C"/>
              </a:solidFill>
            </a:endParaRPr>
          </a:p>
          <a:p>
            <a:pPr algn="l"/>
            <a:r>
              <a:rPr sz="1000" b="0" i="0">
                <a:solidFill>
                  <a:srgbClr val="1A2B3C"/>
                </a:solidFill>
              </a:rPr>
              <a:t>• Female Voice 2 + Male Voice 2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Counterbalanced to reduce item-overlap confound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Participant ID links Form A → Form B</a:t>
            </a:r>
          </a:p>
          <a:p>
            <a:pPr algn="l"/>
            <a:endParaRPr sz="1000" b="0" i="0">
              <a:solidFill>
                <a:srgbClr val="1A2B3C"/>
              </a:solidFill>
            </a:endParaRPr>
          </a:p>
          <a:p>
            <a:pPr algn="l"/>
            <a:r>
              <a:rPr sz="1100" b="1" i="0">
                <a:solidFill>
                  <a:srgbClr val="02C39A"/>
                </a:solidFill>
              </a:rPr>
              <a:t>n = 13 paired participants (pre + post)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Results — What We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2800000" cy="4000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434240" cy="34518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 dirty="0">
                <a:solidFill>
                  <a:srgbClr val="CADCFC"/>
                </a:solidFill>
              </a:rPr>
              <a:t>Tone Perception</a:t>
            </a:r>
          </a:p>
          <a:p>
            <a:pPr algn="ctr"/>
            <a:r>
              <a:rPr sz="3800" b="1" i="0" dirty="0">
                <a:solidFill>
                  <a:srgbClr val="02C39A"/>
                </a:solidFill>
              </a:rPr>
              <a:t>+10.3 pp</a:t>
            </a:r>
          </a:p>
          <a:p>
            <a:pPr algn="ctr"/>
            <a:r>
              <a:rPr sz="1100" b="0" i="0" dirty="0">
                <a:solidFill>
                  <a:srgbClr val="CADCFC"/>
                </a:solidFill>
              </a:rPr>
              <a:t>mean accuracy gain</a:t>
            </a:r>
          </a:p>
          <a:p>
            <a:pPr algn="ctr"/>
            <a:r>
              <a:rPr sz="1300" b="1" i="0" dirty="0">
                <a:solidFill>
                  <a:srgbClr val="FFFFFF"/>
                </a:solidFill>
              </a:rPr>
              <a:t>53.8% → 64.1%</a:t>
            </a:r>
          </a:p>
          <a:p>
            <a:pPr algn="ctr"/>
            <a:r>
              <a:rPr sz="1000" b="0" i="0" dirty="0">
                <a:solidFill>
                  <a:schemeClr val="bg1"/>
                </a:solidFill>
              </a:rPr>
              <a:t>n = 13 paired participants</a:t>
            </a:r>
          </a:p>
          <a:p>
            <a:pPr algn="ctr"/>
            <a:r>
              <a:rPr sz="1000" b="0" i="1" dirty="0">
                <a:solidFill>
                  <a:schemeClr val="bg1"/>
                </a:solidFill>
              </a:rPr>
              <a:t>p = 0.087  (positive trend)</a:t>
            </a:r>
          </a:p>
          <a:p>
            <a:pPr algn="l"/>
            <a:endParaRPr sz="1000" b="0" i="1" dirty="0">
              <a:solidFill>
                <a:srgbClr val="5A7A8A"/>
              </a:solidFill>
            </a:endParaRPr>
          </a:p>
          <a:p>
            <a:pPr algn="ctr"/>
            <a:r>
              <a:rPr sz="1300" b="1" i="0" dirty="0">
                <a:solidFill>
                  <a:srgbClr val="CADCFC"/>
                </a:solidFill>
              </a:rPr>
              <a:t>Usability (TAM)</a:t>
            </a:r>
          </a:p>
          <a:p>
            <a:pPr algn="ctr"/>
            <a:r>
              <a:rPr sz="3800" b="1" i="0" dirty="0">
                <a:solidFill>
                  <a:srgbClr val="02C39A"/>
                </a:solidFill>
              </a:rPr>
              <a:t>3.96 / 5.0</a:t>
            </a:r>
          </a:p>
          <a:p>
            <a:pPr algn="ctr"/>
            <a:r>
              <a:rPr sz="1100" b="0" i="0" dirty="0">
                <a:solidFill>
                  <a:srgbClr val="CADCFC"/>
                </a:solidFill>
              </a:rPr>
              <a:t>overall mean  ·  n = 16</a:t>
            </a:r>
          </a:p>
          <a:p>
            <a:pPr algn="ctr"/>
            <a:r>
              <a:rPr sz="1100" b="1" i="0" dirty="0">
                <a:solidFill>
                  <a:srgbClr val="FFFFFF"/>
                </a:solidFill>
              </a:rPr>
              <a:t>4.19 — Would recommend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57200" y="960120"/>
            <a:ext cx="561248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57200" y="960120"/>
            <a:ext cx="561248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48640" y="1051560"/>
            <a:ext cx="54296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Per-Tone Accuracy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0080" y="1463040"/>
            <a:ext cx="524672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 dirty="0">
                <a:solidFill>
                  <a:srgbClr val="02C39A"/>
                </a:solidFill>
              </a:rPr>
              <a:t>T3  Dipping   46.2% → 66.7%   +20.5 pp  ▲ largest</a:t>
            </a:r>
          </a:p>
          <a:p>
            <a:pPr algn="l"/>
            <a:r>
              <a:rPr sz="1000" b="0" i="1" dirty="0">
                <a:solidFill>
                  <a:srgbClr val="5A7A8A"/>
                </a:solidFill>
              </a:rPr>
              <a:t>Consistent with literature — dipping tone hardest for non-tonal learners  (Lin, 2007)</a:t>
            </a:r>
          </a:p>
          <a:p>
            <a:pPr algn="l"/>
            <a:endParaRPr sz="1000" b="0" i="1" dirty="0">
              <a:solidFill>
                <a:srgbClr val="5A7A8A"/>
              </a:solidFill>
            </a:endParaRPr>
          </a:p>
          <a:p>
            <a:pPr algn="l"/>
            <a:r>
              <a:rPr sz="1200" b="0" i="0" dirty="0">
                <a:solidFill>
                  <a:srgbClr val="065A82"/>
                </a:solidFill>
              </a:rPr>
              <a:t>T1  Flat       53.8% → 69.2%   +15.4 pp  ▲</a:t>
            </a:r>
          </a:p>
          <a:p>
            <a:pPr algn="l"/>
            <a:endParaRPr sz="1200" b="0" i="0" dirty="0">
              <a:solidFill>
                <a:srgbClr val="065A82"/>
              </a:solidFill>
            </a:endParaRPr>
          </a:p>
          <a:p>
            <a:pPr algn="l"/>
            <a:r>
              <a:rPr sz="1200" b="0" i="0" dirty="0">
                <a:solidFill>
                  <a:srgbClr val="065A82"/>
                </a:solidFill>
              </a:rPr>
              <a:t>T2  Rising    53.8% → 66.7%   +12.8 pp  ▲</a:t>
            </a:r>
          </a:p>
          <a:p>
            <a:pPr algn="l"/>
            <a:endParaRPr sz="1200" b="0" i="0" dirty="0">
              <a:solidFill>
                <a:srgbClr val="065A82"/>
              </a:solidFill>
            </a:endParaRPr>
          </a:p>
          <a:p>
            <a:pPr algn="l"/>
            <a:r>
              <a:rPr sz="1200" b="0" i="0" dirty="0">
                <a:solidFill>
                  <a:srgbClr val="F44336"/>
                </a:solidFill>
              </a:rPr>
              <a:t>T4  Falling   61.5% → 53.8%    −7.7 pp  ▼</a:t>
            </a:r>
          </a:p>
          <a:p>
            <a:pPr algn="l"/>
            <a:r>
              <a:rPr sz="1000" b="0" i="1" dirty="0">
                <a:solidFill>
                  <a:srgbClr val="5A7A8A"/>
                </a:solidFill>
              </a:rPr>
              <a:t>3 items/tone/participant — likely sampling variability</a:t>
            </a:r>
          </a:p>
          <a:p>
            <a:pPr algn="l"/>
            <a:endParaRPr sz="1000" b="0" i="1" dirty="0">
              <a:solidFill>
                <a:srgbClr val="5A7A8A"/>
              </a:solidFill>
            </a:endParaRPr>
          </a:p>
          <a:p>
            <a:pPr algn="l"/>
            <a:r>
              <a:rPr sz="1200" b="1" i="0" dirty="0">
                <a:solidFill>
                  <a:srgbClr val="065A82"/>
                </a:solidFill>
              </a:rPr>
              <a:t>Survey Highlights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Would recommend to other learners:  4.19 / 5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Overall useful for learning tones:   4.12 / 5</a:t>
            </a:r>
          </a:p>
          <a:p>
            <a:pPr algn="l"/>
            <a:r>
              <a:rPr sz="1100" b="0" i="0" dirty="0">
                <a:solidFill>
                  <a:srgbClr val="1A2B3C"/>
                </a:solidFill>
              </a:rPr>
              <a:t>• Pitch contour helped identify errors:  3.88 / 5</a:t>
            </a:r>
          </a:p>
          <a:p>
            <a:pPr algn="l"/>
            <a:r>
              <a:rPr sz="1000" b="0" i="1" dirty="0">
                <a:solidFill>
                  <a:srgbClr val="5A7A8A"/>
                </a:solidFill>
              </a:rPr>
              <a:t>• Note: 3 native/heritage speakers in sample may depress ratings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11552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41155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9326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What We Showed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74976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A lightweight, browser-based CAPT tool can produce meaningful perceptual gains with minimal instructional overhead.</a:t>
            </a:r>
          </a:p>
          <a:p>
            <a:pPr algn="l"/>
            <a:endParaRPr sz="1100" b="1" i="0">
              <a:solidFill>
                <a:srgbClr val="065A82"/>
              </a:solidFill>
            </a:endParaRPr>
          </a:p>
          <a:p>
            <a:pPr algn="l"/>
            <a:r>
              <a:rPr sz="1100" b="0" i="0">
                <a:solidFill>
                  <a:srgbClr val="1A2B3C"/>
                </a:solidFill>
              </a:rPr>
              <a:t>✓  +10.3 pp improvement in one session (n = 13)</a:t>
            </a:r>
          </a:p>
          <a:p>
            <a:pPr algn="l"/>
            <a:r>
              <a:rPr sz="1100" b="0" i="0">
                <a:solidFill>
                  <a:srgbClr val="1A2B3C"/>
                </a:solidFill>
              </a:rPr>
              <a:t>✓  T3 (dipping) improved most — the hardest tone at baseline</a:t>
            </a:r>
          </a:p>
          <a:p>
            <a:pPr algn="l"/>
            <a:r>
              <a:rPr sz="1100" b="0" i="0">
                <a:solidFill>
                  <a:srgbClr val="1A2B3C"/>
                </a:solidFill>
              </a:rPr>
              <a:t>✓  91.95% SVM classifier — competitive with prior work</a:t>
            </a:r>
          </a:p>
          <a:p>
            <a:pPr algn="l"/>
            <a:r>
              <a:rPr sz="1100" b="0" i="0">
                <a:solidFill>
                  <a:srgbClr val="1A2B3C"/>
                </a:solidFill>
              </a:rPr>
              <a:t>✓  TAM 3.96 / 5  —  participants would recommend the app</a:t>
            </a:r>
          </a:p>
          <a:p>
            <a:pPr algn="l"/>
            <a:r>
              <a:rPr sz="1100" b="0" i="0">
                <a:solidFill>
                  <a:srgbClr val="1A2B3C"/>
                </a:solidFill>
              </a:rPr>
              <a:t>✓  T2 / T3 confusion in learners mirrors classifier errors — a useful diagnostic signal</a:t>
            </a:r>
          </a:p>
          <a:p>
            <a:pPr algn="l"/>
            <a:endParaRPr sz="1100" b="0" i="0">
              <a:solidFill>
                <a:srgbClr val="1A2B3C"/>
              </a:solidFill>
            </a:endParaRPr>
          </a:p>
          <a:p>
            <a:pPr algn="l"/>
            <a:r>
              <a:rPr sz="1100" b="1" i="0">
                <a:solidFill>
                  <a:srgbClr val="065A82"/>
                </a:solidFill>
              </a:rPr>
              <a:t>Limitations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n = 13 paired — underpowered; ~28 needed for 80% power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No control group — can't rule out test-retest effects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Single session — no long-term retention data</a:t>
            </a:r>
          </a:p>
          <a:p>
            <a:pPr algn="l"/>
            <a:r>
              <a:rPr sz="1000" b="0" i="0">
                <a:solidFill>
                  <a:srgbClr val="1A2B3C"/>
                </a:solidFill>
              </a:rPr>
              <a:t>• Convenience sample (same class) — low diversity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720" y="960120"/>
            <a:ext cx="4115520" cy="400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720" y="960120"/>
            <a:ext cx="411552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4160" y="1051560"/>
            <a:ext cx="39326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5600" y="1463040"/>
            <a:ext cx="3749760" cy="33147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 dirty="0">
                <a:solidFill>
                  <a:srgbClr val="065A82"/>
                </a:solidFill>
              </a:rPr>
              <a:t>Study Design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Larger, more diverse participant pool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Matched control group (practice without feedback)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Delayed post-test — measure retention after 1 week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100" b="1" i="0" dirty="0">
                <a:solidFill>
                  <a:srgbClr val="065A82"/>
                </a:solidFill>
              </a:rPr>
              <a:t>System Improvements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Reference audio playback before recording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More specific recording quality diagnostics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Adaptive difficulty — target weakest tones first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Speaker normalization for atypical vocal profiles</a:t>
            </a:r>
          </a:p>
          <a:p>
            <a:pPr algn="l"/>
            <a:r>
              <a:rPr sz="1000" b="0" i="0" dirty="0">
                <a:solidFill>
                  <a:srgbClr val="1A2B3C"/>
                </a:solidFill>
              </a:rPr>
              <a:t>• Expanded word list</a:t>
            </a:r>
          </a:p>
          <a:p>
            <a:pPr algn="l"/>
            <a:endParaRPr sz="1000" b="0" i="0" dirty="0">
              <a:solidFill>
                <a:srgbClr val="1A2B3C"/>
              </a:solidFill>
            </a:endParaRPr>
          </a:p>
          <a:p>
            <a:pPr algn="l"/>
            <a:r>
              <a:rPr sz="1100" b="1" i="0" dirty="0">
                <a:solidFill>
                  <a:srgbClr val="065A82"/>
                </a:solidFill>
              </a:rPr>
              <a:t>Broader Question</a:t>
            </a:r>
          </a:p>
          <a:p>
            <a:pPr algn="l"/>
            <a:r>
              <a:rPr sz="1000" b="0" i="1" dirty="0">
                <a:solidFill>
                  <a:srgbClr val="02C39A"/>
                </a:solidFill>
              </a:rPr>
              <a:t>Does visual pitch feedback produce durable perceptual gains, or only short-term improvement? That's the study worth running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00000"/>
            <a:ext cx="841248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841248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CADCFC"/>
                </a:solidFill>
              </a:rPr>
              <a:t>Read the paper for the full story — methodology, classifier details, and complete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50000"/>
            <a:ext cx="36576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0000"/>
            <a:ext cx="841248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 dirty="0">
                <a:solidFill>
                  <a:srgbClr val="02C39A"/>
                </a:solidFill>
              </a:rPr>
              <a:t>Try the app: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FFFFFF"/>
                </a:solidFill>
              </a:rPr>
              <a:t>mandarin-tone-</a:t>
            </a:r>
            <a:r>
              <a:rPr sz="1300" b="0" i="0" dirty="0" err="1">
                <a:solidFill>
                  <a:srgbClr val="FFFFFF"/>
                </a:solidFill>
              </a:rPr>
              <a:t>coach.streamlit.app</a:t>
            </a:r>
            <a:endParaRPr sz="1300" b="0" i="0" dirty="0">
              <a:solidFill>
                <a:srgbClr val="FFFFFF"/>
              </a:solidFill>
            </a:endParaRPr>
          </a:p>
          <a:p>
            <a:pPr algn="l"/>
            <a:endParaRPr sz="1300" b="0" i="0" dirty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 i="0" dirty="0">
                <a:solidFill>
                  <a:srgbClr val="CADCFC"/>
                </a:solidFill>
              </a:rPr>
              <a:t>Bharath Jagadish  ·  bjagadish3@gatech.edu</a:t>
            </a:r>
          </a:p>
          <a:p>
            <a:pPr algn="l">
              <a:spcBef>
                <a:spcPts val="200"/>
              </a:spcBef>
            </a:pPr>
            <a:r>
              <a:rPr sz="1200" b="0" i="0" dirty="0">
                <a:solidFill>
                  <a:srgbClr val="CADCFC"/>
                </a:solidFill>
              </a:rPr>
              <a:t>CS6460 Educational Technology  ·  Georgia Tech</a:t>
            </a:r>
          </a:p>
          <a:p>
            <a:pPr algn="l"/>
            <a:endParaRPr sz="1200" b="0" i="0" dirty="0">
              <a:solidFill>
                <a:srgbClr val="CADCFC"/>
              </a:solidFill>
            </a:endParaRPr>
          </a:p>
          <a:p>
            <a:pPr algn="l"/>
            <a:r>
              <a:rPr sz="1100" b="1" i="0" dirty="0">
                <a:solidFill>
                  <a:srgbClr val="02C39A"/>
                </a:solidFill>
              </a:rPr>
              <a:t>Key References</a:t>
            </a:r>
          </a:p>
          <a:p>
            <a:pPr algn="l">
              <a:spcBef>
                <a:spcPts val="200"/>
              </a:spcBef>
            </a:pPr>
            <a:r>
              <a:rPr sz="1000" b="0" i="0" dirty="0">
                <a:solidFill>
                  <a:schemeClr val="bg1"/>
                </a:solidFill>
              </a:rPr>
              <a:t>Chao (1968) · Wang et al. (2003) · Hincks (2003) · Xu et al. (2004) · Lin (2007)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1203</Words>
  <Application>Microsoft Macintosh PowerPoint</Application>
  <PresentationFormat>On-screen Show (16:9)</PresentationFormat>
  <Paragraphs>185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Jagadish</cp:lastModifiedBy>
  <cp:revision>6</cp:revision>
  <dcterms:created xsi:type="dcterms:W3CDTF">2013-01-27T09:14:16Z</dcterms:created>
  <dcterms:modified xsi:type="dcterms:W3CDTF">2026-04-28T16:08:28Z</dcterms:modified>
  <cp:category/>
</cp:coreProperties>
</file>