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59" r:id="rId6"/>
    <p:sldId id="260" r:id="rId7"/>
    <p:sldId id="264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575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FFC5-EA03-B23C-8868-D205DE5F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B47F9-8A9D-C941-71C8-4888AF1F1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B3CEE-C186-9B87-A60C-56E0510F4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E612C-F447-E2B5-846D-8CF2522E5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72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TbSY-wmJSO7GE_CODkuFqJydrnhFFis2/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 Tone Coach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259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Pitch Feedback for L2 Mandarin Tone Learning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323844"/>
            <a:ext cx="3657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51815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Jagadish (bjagadish3@gatech.edu)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CS6460 Educational Technology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0" y="4480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</a:rPr>
              <a:t>Milestone 1</a:t>
            </a:r>
            <a:endParaRPr lang="en-US" sz="12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A291BB15-C9CA-8AAD-43A2-AA8D45DB69DB}"/>
              </a:ext>
            </a:extLst>
          </p:cNvPr>
          <p:cNvSpPr/>
          <p:nvPr/>
        </p:nvSpPr>
        <p:spPr>
          <a:xfrm>
            <a:off x="457200" y="275463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Milestone 1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99BA3D3-9DC1-9F4B-5946-FF1C40844E61}"/>
              </a:ext>
            </a:extLst>
          </p:cNvPr>
          <p:cNvSpPr/>
          <p:nvPr/>
        </p:nvSpPr>
        <p:spPr>
          <a:xfrm>
            <a:off x="2377440" y="275463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Video Link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4864" cy="26517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 has 4 tones — the same syllable means completely different things depending on pitch shape.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妈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mother  ·  </a:t>
            </a:r>
            <a:r>
              <a:rPr lang="en-US" sz="130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麻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hemp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mǎ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horse  ·  </a:t>
            </a:r>
            <a:r>
              <a:rPr lang="en-US" sz="130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骂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to scold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r>
              <a:rPr lang="en-US" sz="1300" dirty="0">
                <a:solidFill>
                  <a:srgbClr val="1A2B3C"/>
                </a:solidFill>
                <a:latin typeface="Calibri" pitchFamily="34" charset="0"/>
                <a:cs typeface="Calibri" pitchFamily="34" charset="-120"/>
              </a:rPr>
              <a:t>English doesn’t use pitch to change word meaning, so tones are often heard and produced incorrectly.</a:t>
            </a:r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54864" cy="2651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fall short: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/ HelloChinese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feedback, no pitch visualization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CAPT systems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publicly available; designed for lab use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Praat / Commercial tools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phonetics training to interpret output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554480" cy="3200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</a:rPr>
              <a:t>Record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Browser mic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audio-recorder-streamlit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2194560"/>
            <a:ext cx="182880" cy="36576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96012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960120"/>
            <a:ext cx="155448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1168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</a:rPr>
              <a:t>Extract F0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Parselmouth / Praat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Silence trimming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194560"/>
            <a:ext cx="182880" cy="36576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49040" y="96012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960120"/>
            <a:ext cx="155448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74904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</a:rPr>
              <a:t>Classify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SVM (RBF kernel)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27 acoustic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2194560"/>
            <a:ext cx="182880" cy="36576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0" y="96012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0" y="960120"/>
            <a:ext cx="155448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</a:rPr>
              <a:t>Visualize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Pitch overlay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Learner vs Reference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2194560"/>
            <a:ext cx="182880" cy="36576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23760" y="96012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23760" y="960120"/>
            <a:ext cx="1554480" cy="3200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22376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</a:rPr>
              <a:t>Feedback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948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Plain-language cues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</a:rPr>
              <a:t>Tone-pair specific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03320"/>
            <a:ext cx="8595360" cy="1143000"/>
          </a:xfrm>
          <a:prstGeom prst="rect">
            <a:avLst/>
          </a:prstGeom>
          <a:solidFill>
            <a:srgbClr val="065A82">
              <a:alpha val="1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Training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25620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Michigan State University’s Tone Perfect corpus: </a:t>
            </a:r>
            <a:r>
              <a:rPr lang="en-US" sz="1000" dirty="0">
                <a:solidFill>
                  <a:srgbClr val="1A2B3C"/>
                </a:solidFill>
              </a:rPr>
              <a:t>9,838 monosyllabic MP3s · 6 native speakers ·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4 tones · 410 syllables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410617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Canonical contours: </a:t>
            </a:r>
            <a:r>
              <a:rPr lang="en-US" sz="1000" dirty="0">
                <a:solidFill>
                  <a:srgbClr val="1A2B3C"/>
                </a:solidFill>
              </a:rPr>
              <a:t>Chao (1968) tone letter system · 4 reference shapes saved as .npz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&amp; Tradeoffs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" cy="1234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</a:rPr>
              <a:t>Training Corpus Selection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196F3"/>
                </a:solidFill>
              </a:rPr>
              <a:t>Chose: </a:t>
            </a:r>
            <a:r>
              <a:rPr lang="en-US" sz="1100" dirty="0">
                <a:solidFill>
                  <a:srgbClr val="1A2B3C"/>
                </a:solidFill>
              </a:rPr>
              <a:t>Tone Perfect (monosyllabic, isolated words)</a:t>
            </a:r>
            <a:r>
              <a:rPr lang="en-US" sz="1100" dirty="0"/>
              <a:t> — 9,838 files, 6 speakers</a:t>
            </a:r>
            <a:r>
              <a:rPr lang="en-US" sz="1100" dirty="0">
                <a:solidFill>
                  <a:srgbClr val="1A2B3C"/>
                </a:solidFill>
              </a:rPr>
              <a:t>   </a:t>
            </a:r>
            <a:r>
              <a:rPr lang="en-US" sz="1100" b="1" dirty="0">
                <a:solidFill>
                  <a:srgbClr val="1A2B3C"/>
                </a:solidFill>
              </a:rPr>
              <a:t>Why: </a:t>
            </a:r>
            <a:r>
              <a:rPr lang="en-US" sz="1100" dirty="0"/>
              <a:t>Classifier must work on learner's single-word recordings. Isolated syllable recordings match the inference context exactly.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5A7A8A"/>
                </a:solidFill>
              </a:rPr>
              <a:t>⚠ Tradeoff: </a:t>
            </a:r>
            <a:r>
              <a:rPr lang="en-US" sz="1000" i="1" dirty="0">
                <a:solidFill>
                  <a:srgbClr val="5A7A8A"/>
                </a:solidFill>
              </a:rPr>
              <a:t>Only 9,838 training samples — larger corpora exist but use continuous speech which introduces sentence-level F0 artifacts.</a:t>
            </a:r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109728" cy="1234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</a:rPr>
              <a:t>SVM vs deep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</a:rPr>
              <a:t>Chose: </a:t>
            </a:r>
            <a:r>
              <a:rPr lang="en-US" sz="1100" dirty="0">
                <a:solidFill>
                  <a:srgbClr val="1A2B3C"/>
                </a:solidFill>
              </a:rPr>
              <a:t>SVM with RBF kernel   </a:t>
            </a:r>
            <a:r>
              <a:rPr lang="en-US" sz="1100" b="1" dirty="0">
                <a:solidFill>
                  <a:srgbClr val="1A2B3C"/>
                </a:solidFill>
              </a:rPr>
              <a:t>Why: </a:t>
            </a:r>
            <a:r>
              <a:rPr lang="en-US" sz="1100" dirty="0">
                <a:solidFill>
                  <a:srgbClr val="1A2B3C"/>
                </a:solidFill>
              </a:rPr>
              <a:t>9,838 training samples is too small for reliable deep learning. SVM achieves 91.95% with far less data and is interpretable.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8A"/>
                </a:solidFill>
              </a:rPr>
              <a:t>⚠ Tradeoff: </a:t>
            </a:r>
            <a:r>
              <a:rPr lang="en-US" sz="1000" i="1" dirty="0">
                <a:solidFill>
                  <a:srgbClr val="5A7A8A"/>
                </a:solidFill>
              </a:rPr>
              <a:t>A CNN trained on larger data would likely outperform, but risks overfitting with this corpus size.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109728" cy="12344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776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</a:rPr>
              <a:t>Canonical vs corpus-derived reference contours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9800"/>
                </a:solidFill>
              </a:rPr>
              <a:t>Chose: </a:t>
            </a:r>
            <a:r>
              <a:rPr lang="en-US" sz="1100" dirty="0">
                <a:solidFill>
                  <a:srgbClr val="1A2B3C"/>
                </a:solidFill>
              </a:rPr>
              <a:t>Chao (1968) canonical tone templates   </a:t>
            </a:r>
            <a:r>
              <a:rPr lang="en-US" sz="1100" b="1" dirty="0">
                <a:solidFill>
                  <a:srgbClr val="1A2B3C"/>
                </a:solidFill>
              </a:rPr>
              <a:t>Why: </a:t>
            </a:r>
            <a:r>
              <a:rPr lang="en-US" sz="1100" dirty="0"/>
              <a:t>Sentence-level continuous speech F0 has natural declination that corrupts tone shape. Canonical templates from Chao (1968) are theoretically grounded and match the four tone descriptions used in every Mandarin textbook.</a:t>
            </a:r>
          </a:p>
        </p:txBody>
      </p:sp>
      <p:sp>
        <p:nvSpPr>
          <p:cNvPr id="18" name="Text 16"/>
          <p:cNvSpPr/>
          <p:nvPr/>
        </p:nvSpPr>
        <p:spPr>
          <a:xfrm>
            <a:off x="502920" y="45079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8A"/>
                </a:solidFill>
              </a:rPr>
              <a:t>⚠ Tradeoff: </a:t>
            </a:r>
            <a:r>
              <a:rPr lang="en-US" sz="1000" i="1" dirty="0">
                <a:solidFill>
                  <a:srgbClr val="5A7A8A"/>
                </a:solidFill>
              </a:rPr>
              <a:t>Canonical templates are theoretically grounded but may not match individual native speaker variation.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Results  —  SVM, Speaker-Independent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194560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</a:rPr>
              <a:t>91.95%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Test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2 unseen speakers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Per-Tone F1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T1  flat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417320"/>
            <a:ext cx="2926080" cy="228600"/>
          </a:xfrm>
          <a:prstGeom prst="rect">
            <a:avLst/>
          </a:prstGeom>
          <a:solidFill>
            <a:srgbClr val="E8EFF4"/>
          </a:solidFill>
          <a:ln w="12700">
            <a:solidFill>
              <a:srgbClr val="E8E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49040" y="1417320"/>
            <a:ext cx="2867558" cy="228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05118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98%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T2  rising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2926080" cy="228600"/>
          </a:xfrm>
          <a:prstGeom prst="rect">
            <a:avLst/>
          </a:prstGeom>
          <a:solidFill>
            <a:srgbClr val="E8EFF4"/>
          </a:solidFill>
          <a:ln w="12700">
            <a:solidFill>
              <a:srgbClr val="E8E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49040" y="1828800"/>
            <a:ext cx="2545690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83250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87%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T3  dipping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2240280"/>
            <a:ext cx="2926080" cy="228600"/>
          </a:xfrm>
          <a:prstGeom prst="rect">
            <a:avLst/>
          </a:prstGeom>
          <a:solidFill>
            <a:srgbClr val="E8EFF4"/>
          </a:solidFill>
          <a:ln w="12700">
            <a:solidFill>
              <a:srgbClr val="E8E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0" y="2240280"/>
            <a:ext cx="2487168" cy="2286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24728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606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T4  falling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2651760"/>
            <a:ext cx="2926080" cy="228600"/>
          </a:xfrm>
          <a:prstGeom prst="rect">
            <a:avLst/>
          </a:prstGeom>
          <a:solidFill>
            <a:srgbClr val="E8EFF4"/>
          </a:solidFill>
          <a:ln w="12700">
            <a:solidFill>
              <a:srgbClr val="E8E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49040" y="2651760"/>
            <a:ext cx="2838298" cy="22860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75858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97%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3063240"/>
            <a:ext cx="33832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34640" y="309067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Main confusion: T2 ↔ T3  (16% error rate)
</a:t>
            </a:r>
            <a:r>
              <a:rPr lang="en-US" sz="1000" dirty="0">
                <a:solidFill>
                  <a:srgbClr val="1A2B3C"/>
                </a:solidFill>
              </a:rPr>
              <a:t>Both involve pitch movement — T2 rises, T3 dips then rises. Adding f0_min_pos feature improved T3 recognition in live testing.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56832" y="960120"/>
            <a:ext cx="22128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1005840"/>
            <a:ext cx="19126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Setup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1371600"/>
            <a:ext cx="20445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Model: </a:t>
            </a:r>
            <a:r>
              <a:rPr lang="en-US" sz="1100" dirty="0">
                <a:solidFill>
                  <a:srgbClr val="1A2B3C"/>
                </a:solidFill>
              </a:rPr>
              <a:t>SVM, RBF kernel
</a:t>
            </a:r>
            <a:r>
              <a:rPr lang="en-US" sz="1100" dirty="0">
                <a:solidFill>
                  <a:srgbClr val="5A7A8A"/>
                </a:solidFill>
              </a:rPr>
              <a:t>C=10, gamma=scale
</a:t>
            </a:r>
            <a:r>
              <a:rPr lang="en-US" sz="1100" b="1" dirty="0">
                <a:solidFill>
                  <a:srgbClr val="1A2B3C"/>
                </a:solidFill>
              </a:rPr>
              <a:t>Features: </a:t>
            </a:r>
            <a:r>
              <a:rPr lang="en-US" sz="1100" dirty="0">
                <a:solidFill>
                  <a:srgbClr val="1A2B3C"/>
                </a:solidFill>
              </a:rPr>
              <a:t>27 per utterance
</a:t>
            </a:r>
            <a:r>
              <a:rPr lang="en-US" sz="1100" dirty="0">
                <a:solidFill>
                  <a:srgbClr val="5A7A8A"/>
                </a:solidFill>
              </a:rPr>
              <a:t>F0 contour · delta · slope
std · min/max · duration
f0_min_pos
</a:t>
            </a:r>
            <a:r>
              <a:rPr lang="en-US" sz="1100" b="1" dirty="0">
                <a:solidFill>
                  <a:srgbClr val="1A2B3C"/>
                </a:solidFill>
              </a:rPr>
              <a:t>Train: </a:t>
            </a:r>
            <a:r>
              <a:rPr lang="en-US" sz="1100" dirty="0">
                <a:solidFill>
                  <a:srgbClr val="1A2B3C"/>
                </a:solidFill>
              </a:rPr>
              <a:t>4 speakers  6,557 samples
</a:t>
            </a:r>
            <a:r>
              <a:rPr lang="en-US" sz="1100" b="1" dirty="0">
                <a:solidFill>
                  <a:srgbClr val="1A2B3C"/>
                </a:solidFill>
              </a:rPr>
              <a:t>Test: </a:t>
            </a:r>
            <a:r>
              <a:rPr lang="en-US" sz="1100" dirty="0">
                <a:solidFill>
                  <a:srgbClr val="1A2B3C"/>
                </a:solidFill>
              </a:rPr>
              <a:t>2 speakers  3,280 samples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063240"/>
            <a:ext cx="22860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09067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MLP tested: 90.52%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SVM outperformed MLP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on this dataset size.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8A"/>
                </a:solidFill>
              </a:rPr>
              <a:t>Evaluation uses speaker-independent split: Female Voice 3 + Male Voice 3 held out from all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—  Streamlit App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320040" y="4462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✅  40 practice words across T1–T4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4462272"/>
            <a:ext cx="1984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✅  Real-time silence trimming</a:t>
            </a:r>
            <a:endParaRPr lang="en-US" sz="11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91EB114-69DF-B085-09B8-57A948942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44244"/>
            <a:ext cx="7772400" cy="3055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B6FFF-6DA5-BBB2-1D4A-A3E2A5FA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E76C42-3DBC-E79B-BB1C-8C04D5D685F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12CAD3-3CF3-14F4-FC24-84331EA50740}"/>
              </a:ext>
            </a:extLst>
          </p:cNvPr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—  Streamlit App</a:t>
            </a:r>
            <a:endParaRPr lang="en-US" sz="26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27C2386-46B3-6AA5-67AD-5CE85CBC580B}"/>
              </a:ext>
            </a:extLst>
          </p:cNvPr>
          <p:cNvSpPr/>
          <p:nvPr/>
        </p:nvSpPr>
        <p:spPr>
          <a:xfrm>
            <a:off x="4407811" y="1692503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</a:rPr>
              <a:t>✅  Plain-language corrective feedback</a:t>
            </a:r>
            <a:endParaRPr lang="en-US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C90BC14-75D4-EA49-5D82-75E012A3D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4944"/>
            <a:ext cx="2920904" cy="4132089"/>
          </a:xfrm>
          <a:prstGeom prst="rect">
            <a:avLst/>
          </a:prstGeom>
        </p:spPr>
      </p:pic>
      <p:sp>
        <p:nvSpPr>
          <p:cNvPr id="42" name="Text 36">
            <a:extLst>
              <a:ext uri="{FF2B5EF4-FFF2-40B4-BE49-F238E27FC236}">
                <a16:creationId xmlns:a16="http://schemas.microsoft.com/office/drawing/2014/main" id="{3FCB81D5-4DBD-5D45-B910-B6EE96FDA561}"/>
              </a:ext>
            </a:extLst>
          </p:cNvPr>
          <p:cNvSpPr/>
          <p:nvPr/>
        </p:nvSpPr>
        <p:spPr>
          <a:xfrm>
            <a:off x="4407811" y="1310755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</a:rPr>
              <a:t>✅  Pitch contour overlay chart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8392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F2E"/>
          </a:solidFill>
          <a:ln w="12700">
            <a:solidFill>
              <a:srgbClr val="02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Questions  —  For Mentor &amp; Classmates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0A3A5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Classifier feedback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The app currently shows the detected tone and a text explanation of what went wrong. Should it also show a numerical confidence score (e.g. '73% T3, 21% T2')? Or does that add cognitive load without pedagogical value?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0A3A52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594360" cy="5943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591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</a:rPr>
              <a:t>Word list scope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697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The current list has 40 words (10 per tone). For beginner learners, is it more effective to practice fewer words repeatedly (e.g. 5 per tone) or to have broader vocabulary coverage?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0A3A52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840480"/>
            <a:ext cx="594360" cy="5943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685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</a:rPr>
              <a:t>T2/T3 confusion handling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16% of T2 recordings are misclassified as T3 and vice versa — a known acoustic overlap. Should the app warn the user that 'T2 and T3 are easily confused by the classifier' to calibrate expectations, or does that undermine trust in the tool?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 —  Weeks 11–16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11  ·  Feedback &amp; UI Polish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Plain-language error cues for all T1–T4 pairs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Disyllabic word list + tone sandhi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94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UI refinements from Milestone 1 feedback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12  ·  Evaluation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Pre/post tone perception test (20 clips)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8105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TAM usability survey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2494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Consent materials &amp; participant recruitment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160520" cy="3474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9718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13  ·  User Study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6–10 participants, 1 session each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8221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Pre-test → practice → post-test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611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Milestone 2 video submission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160520" cy="34747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9718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Wks 14–16  ·  Analysis &amp; Paper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383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Statistical analysis of pre/post gains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8221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Draft full paper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2611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Final submission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2707</TotalTime>
  <Words>858</Words>
  <Application>Microsoft Macintosh PowerPoint</Application>
  <PresentationFormat>On-screen Show (16:9)</PresentationFormat>
  <Paragraphs>124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Mandarin Tone Coach — Milestone 1</dc:title>
  <dc:subject>PptxGenJS Presentation</dc:subject>
  <dc:creator>Bharath Jagadish</dc:creator>
  <cp:lastModifiedBy>Jagadish, Bharath</cp:lastModifiedBy>
  <cp:revision>10</cp:revision>
  <dcterms:created xsi:type="dcterms:W3CDTF">2026-03-21T14:30:14Z</dcterms:created>
  <dcterms:modified xsi:type="dcterms:W3CDTF">2026-03-24T02:02:38Z</dcterms:modified>
</cp:coreProperties>
</file>